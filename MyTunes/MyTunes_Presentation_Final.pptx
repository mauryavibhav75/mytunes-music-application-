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66" d="100"/>
          <a:sy n="66" d="100"/>
        </p:scale>
        <p:origin x="648" y="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4434840"/>
            <a:ext cx="12188952" cy="64008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498848"/>
            <a:ext cx="12188952" cy="36576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778240" y="457200"/>
            <a:ext cx="29260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0" b="0">
                <a:solidFill>
                  <a:srgbClr val="FFFFFF"/>
                </a:solidFill>
                <a:latin typeface="Segoe UI"/>
              </a:rPr>
              <a:t>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600" b="1">
                <a:solidFill>
                  <a:srgbClr val="1DB954"/>
                </a:solidFill>
                <a:latin typeface="Segoe UI"/>
              </a:rPr>
              <a:t>MyTunes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B3B3B3"/>
                </a:solidFill>
                <a:latin typeface="Segoe UI"/>
              </a:rPr>
              <a:t>Ad-Free Social Music Streaming Platform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578608"/>
            <a:ext cx="4754880" cy="4572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2788920"/>
            <a:ext cx="7132320" cy="3520440"/>
          </a:xfrm>
          <a:prstGeom prst="rect">
            <a:avLst/>
          </a:prstGeom>
          <a:solidFill>
            <a:srgbClr val="1E1E2E"/>
          </a:solidFill>
          <a:ln w="635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2944368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9B59B6"/>
                </a:solidFill>
                <a:latin typeface="Segoe UI"/>
              </a:rPr>
              <a:t>PROJECT TEAM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337560"/>
            <a:ext cx="1554480" cy="310896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3410712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dirty="0">
                <a:solidFill>
                  <a:srgbClr val="FFFFFF"/>
                </a:solidFill>
                <a:latin typeface="Segoe UI"/>
              </a:rPr>
              <a:t>Team Member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7440" y="3346703"/>
            <a:ext cx="4846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FFFFFF"/>
                </a:solidFill>
                <a:latin typeface="Segoe UI"/>
              </a:rPr>
              <a:t>[ </a:t>
            </a:r>
            <a:r>
              <a:rPr lang="en-IN" sz="1400" b="1" dirty="0">
                <a:solidFill>
                  <a:srgbClr val="FFFFFF"/>
                </a:solidFill>
                <a:latin typeface="Segoe UI"/>
              </a:rPr>
              <a:t>Priya Luhar(MCA2504003)</a:t>
            </a:r>
            <a:r>
              <a:rPr sz="1400" b="1" dirty="0">
                <a:solidFill>
                  <a:srgbClr val="FFFFFF"/>
                </a:solidFill>
                <a:latin typeface="Segoe UI"/>
              </a:rPr>
              <a:t>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977639"/>
            <a:ext cx="1554480" cy="310896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4050791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</a:rPr>
              <a:t>Team Member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77440" y="3986783"/>
            <a:ext cx="4846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FFFFFF"/>
                </a:solidFill>
                <a:latin typeface="Segoe UI"/>
              </a:rPr>
              <a:t>[ </a:t>
            </a:r>
            <a:r>
              <a:rPr lang="en-IN" sz="1400" b="1" dirty="0">
                <a:solidFill>
                  <a:srgbClr val="FFFFFF"/>
                </a:solidFill>
                <a:latin typeface="Segoe UI"/>
              </a:rPr>
              <a:t>Khushi </a:t>
            </a:r>
            <a:r>
              <a:rPr lang="en-IN" sz="1400" b="1" dirty="0" err="1">
                <a:solidFill>
                  <a:srgbClr val="FFFFFF"/>
                </a:solidFill>
                <a:latin typeface="Segoe UI"/>
              </a:rPr>
              <a:t>Daharwal</a:t>
            </a:r>
            <a:r>
              <a:rPr lang="en-IN" sz="1400" b="1" dirty="0">
                <a:solidFill>
                  <a:srgbClr val="FFFFFF"/>
                </a:solidFill>
                <a:latin typeface="Segoe UI"/>
              </a:rPr>
              <a:t>(MCA2504008)</a:t>
            </a:r>
            <a:r>
              <a:rPr sz="1400" b="1" dirty="0">
                <a:solidFill>
                  <a:srgbClr val="FFFFFF"/>
                </a:solidFill>
                <a:latin typeface="Segoe UI"/>
              </a:rPr>
              <a:t> 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617720"/>
            <a:ext cx="1554480" cy="310896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1520" y="4690872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</a:rPr>
              <a:t>Team Member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77440" y="4626864"/>
            <a:ext cx="4846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FFFFFF"/>
                </a:solidFill>
                <a:latin typeface="Segoe UI"/>
              </a:rPr>
              <a:t>[</a:t>
            </a:r>
            <a:r>
              <a:rPr lang="en-IN" sz="1400" b="1" dirty="0">
                <a:solidFill>
                  <a:srgbClr val="FFFFFF"/>
                </a:solidFill>
                <a:latin typeface="Segoe UI"/>
              </a:rPr>
              <a:t>Vaibhav Maurya(MCA2504027)</a:t>
            </a:r>
            <a:r>
              <a:rPr sz="1400" b="1" dirty="0">
                <a:solidFill>
                  <a:srgbClr val="FFFFFF"/>
                </a:solidFill>
                <a:latin typeface="Segoe UI"/>
              </a:rPr>
              <a:t>]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5257800"/>
            <a:ext cx="1554480" cy="310896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1520" y="5330952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</a:rPr>
              <a:t>Team Member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77440" y="5266944"/>
            <a:ext cx="4846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FFFFFF"/>
                </a:solidFill>
                <a:latin typeface="Segoe UI"/>
              </a:rPr>
              <a:t>[ </a:t>
            </a:r>
            <a:r>
              <a:rPr lang="en-IN" sz="1400" b="1" dirty="0">
                <a:solidFill>
                  <a:srgbClr val="FFFFFF"/>
                </a:solidFill>
                <a:latin typeface="Segoe UI"/>
              </a:rPr>
              <a:t>Tushar Rajpurohit(MCA2504038)</a:t>
            </a:r>
            <a:r>
              <a:rPr sz="1400" b="1" dirty="0">
                <a:solidFill>
                  <a:srgbClr val="FFFFFF"/>
                </a:solidFill>
                <a:latin typeface="Segoe UI"/>
              </a:rPr>
              <a:t> 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53796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3B3B3"/>
                </a:solidFill>
                <a:latin typeface="Segoe UI"/>
              </a:rPr>
              <a:t>Department of Computer Science  |  Academic Year 2024-25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70432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33856"/>
            <a:ext cx="12188952" cy="36576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DB954"/>
                </a:solidFill>
                <a:latin typeface="Segoe UI"/>
              </a:rP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3B3B3"/>
                </a:solidFill>
                <a:latin typeface="Segoe UI"/>
              </a:rPr>
              <a:t>What is MyTunes?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298448"/>
            <a:ext cx="5669280" cy="5321808"/>
          </a:xfrm>
          <a:prstGeom prst="rect">
            <a:avLst/>
          </a:prstGeom>
          <a:solidFill>
            <a:srgbClr val="1E1E2E"/>
          </a:solidFill>
          <a:ln w="10160">
            <a:solidFill>
              <a:srgbClr val="1DB9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DB954"/>
                </a:solidFill>
                <a:latin typeface="Segoe UI"/>
              </a:rPr>
              <a:t>About the Project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792224"/>
            <a:ext cx="5212080" cy="27432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2920" y="1938528"/>
            <a:ext cx="54864" cy="228600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190195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Segoe UI"/>
              </a:rPr>
              <a:t>What is MyTunes?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76272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3B3B3"/>
                </a:solidFill>
                <a:latin typeface="Segoe UI"/>
              </a:rPr>
              <a:t>A free, ad-free music streaming web app that lets users listen to music, build playlists, and connect with friends – all in one place.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807208"/>
            <a:ext cx="54864" cy="228600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277063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Segoe UI"/>
              </a:rPr>
              <a:t>Why we built it?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044952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3B3B3"/>
                </a:solidFill>
                <a:latin typeface="Segoe UI"/>
              </a:rPr>
              <a:t>Popular platforms like Spotify and Apple Music charge for ad-free listening and lock social features behind premium plans. MyTunes gives everyone these features for free.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675888"/>
            <a:ext cx="54864" cy="228600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5800" y="363931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Segoe UI"/>
              </a:rPr>
              <a:t>Who is it for?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913632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3B3B3"/>
                </a:solidFill>
                <a:latin typeface="Segoe UI"/>
              </a:rPr>
              <a:t>Music lovers who want a free, social streaming experience without ads or subscription fees.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4544568"/>
            <a:ext cx="54864" cy="228600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5800" y="450799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Segoe UI"/>
              </a:rPr>
              <a:t>How it works?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782312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3B3B3"/>
                </a:solidFill>
                <a:latin typeface="Segoe UI"/>
              </a:rPr>
              <a:t>Users sign up, search for songs, create playlists, like tracks, add friends, and can even listen to the same song together in real time.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72200" y="1298448"/>
            <a:ext cx="5715000" cy="5321808"/>
          </a:xfrm>
          <a:prstGeom prst="rect">
            <a:avLst/>
          </a:prstGeom>
          <a:solidFill>
            <a:srgbClr val="1E1E2E"/>
          </a:solidFill>
          <a:ln w="1016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0" y="141732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9B59B6"/>
                </a:solidFill>
                <a:latin typeface="Segoe UI"/>
              </a:rPr>
              <a:t>Key Highlights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5080" y="1792224"/>
            <a:ext cx="5212080" cy="27432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355080" y="1901952"/>
            <a:ext cx="5212080" cy="685800"/>
          </a:xfrm>
          <a:prstGeom prst="rect">
            <a:avLst/>
          </a:prstGeom>
          <a:solidFill>
            <a:srgbClr val="161626"/>
          </a:solidFill>
          <a:ln w="7620">
            <a:solidFill>
              <a:srgbClr val="1DB9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355080" y="1901952"/>
            <a:ext cx="54864" cy="685800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510528" y="1975104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DB954"/>
                </a:solidFill>
                <a:latin typeface="Segoe UI"/>
              </a:rPr>
              <a:t>Free &amp; Ad-Free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10528" y="2249424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3B3B3"/>
                </a:solidFill>
                <a:latin typeface="Segoe UI"/>
              </a:rPr>
              <a:t>No ads, no subscriptions – ever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5080" y="2697480"/>
            <a:ext cx="5212080" cy="685800"/>
          </a:xfrm>
          <a:prstGeom prst="rect">
            <a:avLst/>
          </a:prstGeom>
          <a:solidFill>
            <a:srgbClr val="161626"/>
          </a:solidFill>
          <a:ln w="762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355080" y="2697480"/>
            <a:ext cx="54864" cy="68580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510528" y="2770632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9B59B6"/>
                </a:solidFill>
                <a:latin typeface="Segoe UI"/>
              </a:rPr>
              <a:t>Social Platform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10528" y="3044952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3B3B3"/>
                </a:solidFill>
                <a:latin typeface="Segoe UI"/>
              </a:rPr>
              <a:t>Add friends, share music, see what they listen to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5080" y="3493008"/>
            <a:ext cx="5212080" cy="685800"/>
          </a:xfrm>
          <a:prstGeom prst="rect">
            <a:avLst/>
          </a:prstGeom>
          <a:solidFill>
            <a:srgbClr val="161626"/>
          </a:solidFill>
          <a:ln w="7620">
            <a:solidFill>
              <a:srgbClr val="1ABC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355080" y="3493008"/>
            <a:ext cx="54864" cy="68580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510528" y="3566160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BC9C"/>
                </a:solidFill>
                <a:latin typeface="Segoe UI"/>
              </a:rPr>
              <a:t>Listen Together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10528" y="3840480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3B3B3"/>
                </a:solidFill>
                <a:latin typeface="Segoe UI"/>
              </a:rPr>
              <a:t>Real-time sync – same song, same moment, different places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5080" y="4288536"/>
            <a:ext cx="5212080" cy="685800"/>
          </a:xfrm>
          <a:prstGeom prst="rect">
            <a:avLst/>
          </a:prstGeom>
          <a:solidFill>
            <a:srgbClr val="161626"/>
          </a:solidFill>
          <a:ln w="7620">
            <a:solidFill>
              <a:srgbClr val="F3C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6355080" y="4288536"/>
            <a:ext cx="54864" cy="685800"/>
          </a:xfrm>
          <a:prstGeom prst="rect">
            <a:avLst/>
          </a:prstGeom>
          <a:solidFill>
            <a:srgbClr val="F3C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510528" y="4361688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3C623"/>
                </a:solidFill>
                <a:latin typeface="Segoe UI"/>
              </a:rPr>
              <a:t>Mood Discovery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10528" y="4636008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3B3B3"/>
                </a:solidFill>
                <a:latin typeface="Segoe UI"/>
              </a:rPr>
              <a:t>Find music based on your current mood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55080" y="5084064"/>
            <a:ext cx="5212080" cy="685800"/>
          </a:xfrm>
          <a:prstGeom prst="rect">
            <a:avLst/>
          </a:prstGeom>
          <a:solidFill>
            <a:srgbClr val="161626"/>
          </a:solidFill>
          <a:ln w="7620">
            <a:solidFill>
              <a:srgbClr val="E5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6355080" y="5084064"/>
            <a:ext cx="54864" cy="685800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510528" y="5157216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53E3E"/>
                </a:solidFill>
                <a:latin typeface="Segoe UI"/>
              </a:rPr>
              <a:t>Secure &amp; Private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10528" y="5431536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3B3B3"/>
                </a:solidFill>
                <a:latin typeface="Segoe UI"/>
              </a:rPr>
              <a:t>JWT auth, bcrypt passwords, private playlist options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355080" y="5879592"/>
            <a:ext cx="5212080" cy="685800"/>
          </a:xfrm>
          <a:prstGeom prst="rect">
            <a:avLst/>
          </a:prstGeom>
          <a:solidFill>
            <a:srgbClr val="161626"/>
          </a:solidFill>
          <a:ln w="7620">
            <a:solidFill>
              <a:srgbClr val="276D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6355080" y="5879592"/>
            <a:ext cx="54864" cy="685800"/>
          </a:xfrm>
          <a:prstGeom prst="rect">
            <a:avLst/>
          </a:prstGeom>
          <a:solidFill>
            <a:srgbClr val="276D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510528" y="5952744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76DC8"/>
                </a:solidFill>
                <a:latin typeface="Segoe UI"/>
              </a:rPr>
              <a:t>Full-Stack Project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10528" y="6227064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3B3B3"/>
                </a:solidFill>
                <a:latin typeface="Segoe UI"/>
              </a:rPr>
              <a:t>Node.js + MongoDB backend + Vanilla JS frontend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70432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33856"/>
            <a:ext cx="12188952" cy="36576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53E3E"/>
                </a:solidFill>
                <a:latin typeface="Segoe UI"/>
              </a:rP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3B3B3"/>
                </a:solidFill>
                <a:latin typeface="Segoe UI"/>
              </a:rPr>
              <a:t>The gap MyTunes fills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98448"/>
            <a:ext cx="11292840" cy="914400"/>
          </a:xfrm>
          <a:prstGeom prst="rect">
            <a:avLst/>
          </a:prstGeom>
          <a:solidFill>
            <a:srgbClr val="2A0A0A"/>
          </a:solidFill>
          <a:ln w="19050">
            <a:solidFill>
              <a:srgbClr val="E5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389888"/>
            <a:ext cx="108356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Segoe UI"/>
              </a:rPr>
              <a:t>Music lovers today are forced to either tolerate constant ads on free tiers OR pay expensive monthly subscriptions just to enjoy ad-free streaming. Social and collaborative features remain locked behind premium plans – making music a solo, costly experience.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359152"/>
            <a:ext cx="3749039" cy="1417320"/>
          </a:xfrm>
          <a:prstGeom prst="rect">
            <a:avLst/>
          </a:prstGeom>
          <a:solidFill>
            <a:srgbClr val="1E1E2E"/>
          </a:solidFill>
          <a:ln w="12700">
            <a:solidFill>
              <a:srgbClr val="E5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65760" y="2359152"/>
            <a:ext cx="64008" cy="1417320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30352" y="2450592"/>
            <a:ext cx="35204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53E3E"/>
                </a:solidFill>
                <a:latin typeface="Segoe UI"/>
              </a:rPr>
              <a:t>Costly Ad-Free Streaming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2816352"/>
            <a:ext cx="3520439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3B3B3"/>
                </a:solidFill>
                <a:latin typeface="Segoe UI"/>
              </a:rPr>
              <a:t>Spotify Free = ads every 2-3 songs. Ad-free requires ₹119/month. Many students and users cannot afford premium plans.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24528" y="2359152"/>
            <a:ext cx="3749039" cy="1417320"/>
          </a:xfrm>
          <a:prstGeom prst="rect">
            <a:avLst/>
          </a:prstGeom>
          <a:solidFill>
            <a:srgbClr val="1E1E2E"/>
          </a:solidFill>
          <a:ln w="12700">
            <a:solidFill>
              <a:srgbClr val="F3C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224528" y="2359152"/>
            <a:ext cx="64008" cy="1417320"/>
          </a:xfrm>
          <a:prstGeom prst="rect">
            <a:avLst/>
          </a:prstGeom>
          <a:solidFill>
            <a:srgbClr val="F3C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389120" y="2450592"/>
            <a:ext cx="35204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3C623"/>
                </a:solidFill>
                <a:latin typeface="Segoe UI"/>
              </a:rPr>
              <a:t>No Free Social Features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816352"/>
            <a:ext cx="3520439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3B3B3"/>
                </a:solidFill>
                <a:latin typeface="Segoe UI"/>
              </a:rPr>
              <a:t>Following friends, seeing what they listen to, and sharing music requires paid tiers on most platforms. Free users are isolated.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83296" y="2359152"/>
            <a:ext cx="3749039" cy="1417320"/>
          </a:xfrm>
          <a:prstGeom prst="rect">
            <a:avLst/>
          </a:prstGeom>
          <a:solidFill>
            <a:srgbClr val="1E1E2E"/>
          </a:solidFill>
          <a:ln w="127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83296" y="2359152"/>
            <a:ext cx="64008" cy="141732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47888" y="2450592"/>
            <a:ext cx="35204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9B59B6"/>
                </a:solidFill>
                <a:latin typeface="Segoe UI"/>
              </a:rPr>
              <a:t>No Real-Time Group Listening (Free)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2816352"/>
            <a:ext cx="3520439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3B3B3"/>
                </a:solidFill>
                <a:latin typeface="Segoe UI"/>
              </a:rPr>
              <a:t>Listening to the same song together with friends in real time is not available on any major free streaming platform without third-party tools.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913632"/>
            <a:ext cx="3749039" cy="1417320"/>
          </a:xfrm>
          <a:prstGeom prst="rect">
            <a:avLst/>
          </a:prstGeom>
          <a:solidFill>
            <a:srgbClr val="1E1E2E"/>
          </a:solidFill>
          <a:ln w="12700">
            <a:solidFill>
              <a:srgbClr val="1ABC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65760" y="3913632"/>
            <a:ext cx="64008" cy="141732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30352" y="4005072"/>
            <a:ext cx="35204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BC9C"/>
                </a:solidFill>
                <a:latin typeface="Segoe UI"/>
              </a:rPr>
              <a:t>Limited Mood-Based Discovery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" y="4370832"/>
            <a:ext cx="3520439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3B3B3"/>
                </a:solidFill>
                <a:latin typeface="Segoe UI"/>
              </a:rPr>
              <a:t>Free tiers offer very limited playlist and mood-based browsing. Personalised recommendations are gated behind subscriptions.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24528" y="3913632"/>
            <a:ext cx="3749039" cy="1417320"/>
          </a:xfrm>
          <a:prstGeom prst="rect">
            <a:avLst/>
          </a:prstGeom>
          <a:solidFill>
            <a:srgbClr val="1E1E2E"/>
          </a:solidFill>
          <a:ln w="12700">
            <a:solidFill>
              <a:srgbClr val="1DB9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224528" y="3913632"/>
            <a:ext cx="64008" cy="1417320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389120" y="4005072"/>
            <a:ext cx="35204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DB954"/>
                </a:solidFill>
                <a:latin typeface="Segoe UI"/>
              </a:rPr>
              <a:t>Complex Privacy Controls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0" y="4370832"/>
            <a:ext cx="3520439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3B3B3"/>
                </a:solidFill>
                <a:latin typeface="Segoe UI"/>
              </a:rPr>
              <a:t>Users cannot easily control who sees their playlists. Most platforms lack simple Public / Friends-only / Private options on free plans.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83296" y="3913632"/>
            <a:ext cx="3749039" cy="1417320"/>
          </a:xfrm>
          <a:prstGeom prst="rect">
            <a:avLst/>
          </a:prstGeom>
          <a:solidFill>
            <a:srgbClr val="1E1E2E"/>
          </a:solidFill>
          <a:ln w="12700">
            <a:solidFill>
              <a:srgbClr val="276D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083296" y="3913632"/>
            <a:ext cx="64008" cy="1417320"/>
          </a:xfrm>
          <a:prstGeom prst="rect">
            <a:avLst/>
          </a:prstGeom>
          <a:solidFill>
            <a:srgbClr val="276D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247888" y="4005072"/>
            <a:ext cx="35204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76DC8"/>
                </a:solidFill>
                <a:latin typeface="Segoe UI"/>
              </a:rPr>
              <a:t>No Unified Platform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47888" y="4370832"/>
            <a:ext cx="3520439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3B3B3"/>
                </a:solidFill>
                <a:latin typeface="Segoe UI"/>
              </a:rPr>
              <a:t>Users juggle multiple apps for streaming, social features, and group listening. There is no single free platform that combines all of these.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70432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33856"/>
            <a:ext cx="12188952" cy="36576"/>
          </a:xfrm>
          <a:prstGeom prst="rect">
            <a:avLst/>
          </a:prstGeom>
          <a:solidFill>
            <a:srgbClr val="F3C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3C623"/>
                </a:solidFill>
                <a:latin typeface="Segoe UI"/>
              </a:rPr>
              <a:t>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3B3B3"/>
                </a:solidFill>
                <a:latin typeface="Segoe UI"/>
              </a:rPr>
              <a:t>What MyTunes aims to achieve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298448"/>
            <a:ext cx="5669280" cy="5321808"/>
          </a:xfrm>
          <a:prstGeom prst="rect">
            <a:avLst/>
          </a:prstGeom>
          <a:solidFill>
            <a:srgbClr val="1E1E2E"/>
          </a:solidFill>
          <a:ln w="10160">
            <a:solidFill>
              <a:srgbClr val="F3C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141732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3C623"/>
                </a:solidFill>
                <a:latin typeface="Segoe UI"/>
              </a:rPr>
              <a:t>Primary Objectives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792224"/>
            <a:ext cx="5212080" cy="27432"/>
          </a:xfrm>
          <a:prstGeom prst="rect">
            <a:avLst/>
          </a:prstGeom>
          <a:solidFill>
            <a:srgbClr val="F3C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2920" y="1938528"/>
            <a:ext cx="54864" cy="228600"/>
          </a:xfrm>
          <a:prstGeom prst="rect">
            <a:avLst/>
          </a:prstGeom>
          <a:solidFill>
            <a:srgbClr val="F3C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190195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Segoe UI"/>
              </a:rPr>
              <a:t>Build a Free, Ad-Free Platform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76272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3B3B3"/>
                </a:solidFill>
                <a:latin typeface="Segoe UI"/>
              </a:rPr>
              <a:t>Create a music streaming app that requires no subscription and shows zero ads to users.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761488"/>
            <a:ext cx="54864" cy="228600"/>
          </a:xfrm>
          <a:prstGeom prst="rect">
            <a:avLst/>
          </a:prstGeom>
          <a:solidFill>
            <a:srgbClr val="F3C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272491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Segoe UI"/>
              </a:rPr>
              <a:t>Implement Secure Authentication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999232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3B3B3"/>
                </a:solidFill>
                <a:latin typeface="Segoe UI"/>
              </a:rPr>
              <a:t>Use JWT tokens and bcrypt hashing so user accounts and passwords are always protected.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584448"/>
            <a:ext cx="54864" cy="228600"/>
          </a:xfrm>
          <a:prstGeom prst="rect">
            <a:avLst/>
          </a:prstGeom>
          <a:solidFill>
            <a:srgbClr val="F3C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5800" y="354787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Segoe UI"/>
              </a:rPr>
              <a:t>Enable Playlist Management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822191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3B3B3"/>
                </a:solidFill>
                <a:latin typeface="Segoe UI"/>
              </a:rPr>
              <a:t>Let users create, edit, and delete playlists with Public, Friends-only, or Private visibility.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4407408"/>
            <a:ext cx="54864" cy="228600"/>
          </a:xfrm>
          <a:prstGeom prst="rect">
            <a:avLst/>
          </a:prstGeom>
          <a:solidFill>
            <a:srgbClr val="F3C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5800" y="437083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Segoe UI"/>
              </a:rPr>
              <a:t>Real-Time Listen Together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645152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3B3B3"/>
                </a:solidFill>
                <a:latin typeface="Segoe UI"/>
              </a:rPr>
              <a:t>Build a Socket.io-powered feature so friends can listen to the same song simultaneously.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5230368"/>
            <a:ext cx="54864" cy="228600"/>
          </a:xfrm>
          <a:prstGeom prst="rect">
            <a:avLst/>
          </a:prstGeom>
          <a:solidFill>
            <a:srgbClr val="F3C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85800" y="519379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Segoe UI"/>
              </a:rPr>
              <a:t>Social / Friends System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5468112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3B3B3"/>
                </a:solidFill>
                <a:latin typeface="Segoe UI"/>
              </a:rPr>
              <a:t>Allow users to send friend requests, see friends' activity, and discover music socially.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72200" y="1298448"/>
            <a:ext cx="5715000" cy="5321808"/>
          </a:xfrm>
          <a:prstGeom prst="rect">
            <a:avLst/>
          </a:prstGeom>
          <a:solidFill>
            <a:srgbClr val="1E1E2E"/>
          </a:solidFill>
          <a:ln w="10160">
            <a:solidFill>
              <a:srgbClr val="1DB9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00800" y="141732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DB954"/>
                </a:solidFill>
                <a:latin typeface="Segoe UI"/>
              </a:rPr>
              <a:t>Secondary Objectives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55080" y="1792224"/>
            <a:ext cx="5212080" cy="27432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355080" y="1938528"/>
            <a:ext cx="54864" cy="228600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37960" y="190195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Segoe UI"/>
              </a:rPr>
              <a:t>Mood-Based Music Discovery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60" y="2176272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3B3B3"/>
                </a:solidFill>
                <a:latin typeface="Segoe UI"/>
              </a:rPr>
              <a:t>Tag songs by mood (Happy, Sad, Energetic, Calm) and let users browse by feeling.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55080" y="2761488"/>
            <a:ext cx="54864" cy="228600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537960" y="272491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Segoe UI"/>
              </a:rPr>
              <a:t>User Profiles &amp; Stats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37960" y="2999232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3B3B3"/>
                </a:solidFill>
                <a:latin typeface="Segoe UI"/>
              </a:rPr>
              <a:t>Show each user's top tracks, total plays, public playlists, and friends count.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55080" y="3584448"/>
            <a:ext cx="54864" cy="228600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537960" y="354787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Segoe UI"/>
              </a:rPr>
              <a:t>Automated Testing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37960" y="3822191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3B3B3"/>
                </a:solidFill>
                <a:latin typeface="Segoe UI"/>
              </a:rPr>
              <a:t>Write Jest + Supertest test suites to verify all API routes work correctly.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5080" y="4407408"/>
            <a:ext cx="54864" cy="228600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537960" y="437083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Segoe UI"/>
              </a:rPr>
              <a:t>Clean &amp; Responsive UI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37960" y="4645152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3B3B3"/>
                </a:solidFill>
                <a:latin typeface="Segoe UI"/>
              </a:rPr>
              <a:t>Build a dark-themed, Spotify-inspired interface that works well at 1440px wide.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55080" y="5230368"/>
            <a:ext cx="54864" cy="228600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537960" y="519379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Segoe UI"/>
              </a:rPr>
              <a:t>Structured REST API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37960" y="5468112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3B3B3"/>
                </a:solidFill>
                <a:latin typeface="Segoe UI"/>
              </a:rPr>
              <a:t>Design clear, consistent API endpoints with proper HTTP status codes and error messages.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355080" y="6053328"/>
            <a:ext cx="54864" cy="228600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537960" y="601675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Segoe UI"/>
              </a:rPr>
              <a:t>Logging &amp; Monitoring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37960" y="6291072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3B3B3"/>
                </a:solidFill>
                <a:latin typeface="Segoe UI"/>
              </a:rPr>
              <a:t>Use Winston logger to track server events, errors, and API requests for debugging.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70432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33856"/>
            <a:ext cx="12188952" cy="36576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BC9C"/>
                </a:solidFill>
                <a:latin typeface="Segoe UI"/>
              </a:rPr>
              <a:t>Scope of the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3B3B3"/>
                </a:solidFill>
                <a:latin typeface="Segoe UI"/>
              </a:rPr>
              <a:t>What is included and what is not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298448"/>
            <a:ext cx="5486400" cy="5321808"/>
          </a:xfrm>
          <a:prstGeom prst="rect">
            <a:avLst/>
          </a:prstGeom>
          <a:solidFill>
            <a:srgbClr val="1E1E2E"/>
          </a:solidFill>
          <a:ln w="10160">
            <a:solidFill>
              <a:srgbClr val="1DB9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38988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DB954"/>
                </a:solidFill>
                <a:latin typeface="Segoe UI"/>
              </a:rPr>
              <a:t>✅  IN SCOPE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764792"/>
            <a:ext cx="5120640" cy="27432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2920" y="1929384"/>
            <a:ext cx="73152" cy="73152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94944" y="1874519"/>
            <a:ext cx="4892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3B3B3"/>
                </a:solidFill>
                <a:latin typeface="Segoe UI"/>
              </a:rPr>
              <a:t>User Registration &amp; Login (Email + Password with JWT)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258568"/>
            <a:ext cx="73152" cy="73152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94944" y="2203703"/>
            <a:ext cx="4892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3B3B3"/>
                </a:solidFill>
                <a:latin typeface="Segoe UI"/>
              </a:rPr>
              <a:t>Music Search – search songs by title or artist name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587751"/>
            <a:ext cx="73152" cy="73152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94944" y="2532887"/>
            <a:ext cx="4892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3B3B3"/>
                </a:solidFill>
                <a:latin typeface="Segoe UI"/>
              </a:rPr>
              <a:t>Full audio player with play, pause, skip, shuffle, repeat, volume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916935"/>
            <a:ext cx="73152" cy="73152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94944" y="2862071"/>
            <a:ext cx="4892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3B3B3"/>
                </a:solidFill>
                <a:latin typeface="Segoe UI"/>
              </a:rPr>
              <a:t>Playlist creation, editing, and deletion with visibility controls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246119"/>
            <a:ext cx="73152" cy="73152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94944" y="3191255"/>
            <a:ext cx="4892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3B3B3"/>
                </a:solidFill>
                <a:latin typeface="Segoe UI"/>
              </a:rPr>
              <a:t>Liked Songs – save and manage favourite tracks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575303"/>
            <a:ext cx="73152" cy="73152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94944" y="3520439"/>
            <a:ext cx="4892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3B3B3"/>
                </a:solidFill>
                <a:latin typeface="Segoe UI"/>
              </a:rPr>
              <a:t>Mood-Based Browsing – filter songs by mood tags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3904487"/>
            <a:ext cx="73152" cy="73152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94944" y="3849623"/>
            <a:ext cx="4892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3B3B3"/>
                </a:solidFill>
                <a:latin typeface="Segoe UI"/>
              </a:rPr>
              <a:t>Friends System – send, accept, decline friend requests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4233671"/>
            <a:ext cx="73152" cy="73152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94944" y="4178807"/>
            <a:ext cx="4892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3B3B3"/>
                </a:solidFill>
                <a:latin typeface="Segoe UI"/>
              </a:rPr>
              <a:t>Listen Together – real-time group sessions via Socket.io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4562855"/>
            <a:ext cx="73152" cy="73152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94944" y="4507992"/>
            <a:ext cx="4892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3B3B3"/>
                </a:solidFill>
                <a:latin typeface="Segoe UI"/>
              </a:rPr>
              <a:t>User Profile – display name, bio, stats, public playlists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4892040"/>
            <a:ext cx="73152" cy="73152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94944" y="4837176"/>
            <a:ext cx="4892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3B3B3"/>
                </a:solidFill>
                <a:latin typeface="Segoe UI"/>
              </a:rPr>
              <a:t>Queue management – add songs to a persistent play queue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5221224"/>
            <a:ext cx="73152" cy="73152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94944" y="5166360"/>
            <a:ext cx="4892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3B3B3"/>
                </a:solidFill>
                <a:latin typeface="Segoe UI"/>
              </a:rPr>
              <a:t>Toast notifications and context menus for song actions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5550408"/>
            <a:ext cx="73152" cy="73152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94944" y="5495544"/>
            <a:ext cx="4892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3B3B3"/>
                </a:solidFill>
                <a:latin typeface="Segoe UI"/>
              </a:rPr>
              <a:t>Automated backend tests with Jest + Supertest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080760" y="1298448"/>
            <a:ext cx="5760720" cy="5321808"/>
          </a:xfrm>
          <a:prstGeom prst="rect">
            <a:avLst/>
          </a:prstGeom>
          <a:solidFill>
            <a:srgbClr val="1E1E2E"/>
          </a:solidFill>
          <a:ln w="10160">
            <a:solidFill>
              <a:srgbClr val="E5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309360" y="138988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53E3E"/>
                </a:solidFill>
                <a:latin typeface="Segoe UI"/>
              </a:rPr>
              <a:t>❌  OUT OF SCOPE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63640" y="1764792"/>
            <a:ext cx="5303520" cy="27432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263640" y="1911095"/>
            <a:ext cx="54864" cy="219456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455664" y="1874519"/>
            <a:ext cx="5166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Segoe UI"/>
              </a:rPr>
              <a:t>Mobile Application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55664" y="2148839"/>
            <a:ext cx="5166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3B3B3"/>
                </a:solidFill>
                <a:latin typeface="Segoe UI"/>
              </a:rPr>
              <a:t>Web app only – no iOS/Android app this semester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63640" y="2569463"/>
            <a:ext cx="54864" cy="219456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455664" y="2532887"/>
            <a:ext cx="5166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Segoe UI"/>
              </a:rPr>
              <a:t>Offline Mode / Downloads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55664" y="2807207"/>
            <a:ext cx="5166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3B3B3"/>
                </a:solidFill>
                <a:latin typeface="Segoe UI"/>
              </a:rPr>
              <a:t>All streaming requires an active internet connection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63640" y="3227831"/>
            <a:ext cx="54864" cy="219456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455664" y="3191255"/>
            <a:ext cx="5166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Segoe UI"/>
              </a:rPr>
              <a:t>ML Recommendations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55664" y="3465575"/>
            <a:ext cx="5166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3B3B3"/>
                </a:solidFill>
                <a:latin typeface="Segoe UI"/>
              </a:rPr>
              <a:t>No AI-based 'you might also like' engine yet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63640" y="3886199"/>
            <a:ext cx="54864" cy="219456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455664" y="3849623"/>
            <a:ext cx="5166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Segoe UI"/>
              </a:rPr>
              <a:t>Artist / Creator Accounts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55664" y="4123943"/>
            <a:ext cx="5166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3B3B3"/>
                </a:solidFill>
                <a:latin typeface="Segoe UI"/>
              </a:rPr>
              <a:t>Only listener accounts; artists cannot upload directly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63640" y="4544567"/>
            <a:ext cx="54864" cy="219456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455664" y="4507991"/>
            <a:ext cx="5166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Segoe UI"/>
              </a:rPr>
              <a:t>Payment / Subscription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55664" y="4782311"/>
            <a:ext cx="5166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3B3B3"/>
                </a:solidFill>
                <a:latin typeface="Segoe UI"/>
              </a:rPr>
              <a:t>No premium tier or payment gateway integration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263640" y="5202935"/>
            <a:ext cx="54864" cy="219456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455664" y="5166359"/>
            <a:ext cx="5166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Segoe UI"/>
              </a:rPr>
              <a:t>In-App Chat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55664" y="5440679"/>
            <a:ext cx="5166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3B3B3"/>
                </a:solidFill>
                <a:latin typeface="Segoe UI"/>
              </a:rPr>
              <a:t>Friends can see activity but cannot send messages yet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263640" y="5861303"/>
            <a:ext cx="54864" cy="219456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455664" y="5824727"/>
            <a:ext cx="5166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Segoe UI"/>
              </a:rPr>
              <a:t>Live Radio / Broadcasting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55664" y="6099047"/>
            <a:ext cx="5166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3B3B3"/>
                </a:solidFill>
                <a:latin typeface="Segoe UI"/>
              </a:rPr>
              <a:t>Not a live streaming or radio service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263640" y="6519671"/>
            <a:ext cx="54864" cy="219456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6455664" y="6483095"/>
            <a:ext cx="5166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Segoe UI"/>
              </a:rPr>
              <a:t>Desktop / Mobile App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55664" y="6757415"/>
            <a:ext cx="5166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3B3B3"/>
                </a:solidFill>
                <a:latin typeface="Segoe UI"/>
              </a:rPr>
              <a:t>Not packaged as an Electron or PWA offline app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70432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33856"/>
            <a:ext cx="12188952" cy="36576"/>
          </a:xfrm>
          <a:prstGeom prst="rect">
            <a:avLst/>
          </a:prstGeom>
          <a:solidFill>
            <a:srgbClr val="276D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76DC8"/>
                </a:solidFill>
                <a:latin typeface="Segoe UI"/>
              </a:rPr>
              <a:t>Technologies Used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3B3B3"/>
                </a:solidFill>
                <a:latin typeface="Segoe UI"/>
              </a:rPr>
              <a:t>The tech stack that powers MyTunes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298448"/>
            <a:ext cx="2852928" cy="3063239"/>
          </a:xfrm>
          <a:prstGeom prst="rect">
            <a:avLst/>
          </a:prstGeom>
          <a:solidFill>
            <a:srgbClr val="1E1E2E"/>
          </a:solidFill>
          <a:ln w="1524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74320" y="1298448"/>
            <a:ext cx="2852928" cy="384048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1362456"/>
            <a:ext cx="28529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Frontend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" y="1810512"/>
            <a:ext cx="54864" cy="18288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30352" y="1773936"/>
            <a:ext cx="250545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Segoe UI"/>
              </a:rPr>
              <a:t>HTML5 + CSS3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2011680"/>
            <a:ext cx="25054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3B3B3"/>
                </a:solidFill>
                <a:latin typeface="Segoe UI"/>
              </a:rPr>
              <a:t>Page structure and dark-theme styling with CSS variables and Grid/Flexbox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4048" y="2404872"/>
            <a:ext cx="54864" cy="18288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30352" y="2368296"/>
            <a:ext cx="250545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Segoe UI"/>
              </a:rPr>
              <a:t>JavaScript (ES6+)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2606039"/>
            <a:ext cx="25054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3B3B3"/>
                </a:solidFill>
                <a:latin typeface="Segoe UI"/>
              </a:rPr>
              <a:t>Vanilla JS SPA – no framework. Handles routing, API calls, DOM updates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4048" y="2999232"/>
            <a:ext cx="54864" cy="18288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30352" y="2962656"/>
            <a:ext cx="250545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Segoe UI"/>
              </a:rPr>
              <a:t>Font Awesome 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3200400"/>
            <a:ext cx="25054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3B3B3"/>
                </a:solidFill>
                <a:latin typeface="Segoe UI"/>
              </a:rPr>
              <a:t>Icon library for all UI icons (play, heart, users, etc.)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84048" y="3593591"/>
            <a:ext cx="54864" cy="18288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30352" y="3557015"/>
            <a:ext cx="250545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Segoe UI"/>
              </a:rPr>
              <a:t>Socket.io Client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" y="3794759"/>
            <a:ext cx="25054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3B3B3"/>
                </a:solidFill>
                <a:latin typeface="Segoe UI"/>
              </a:rPr>
              <a:t>Connects to the server's WebSocket for real-time sync features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18688" y="1298448"/>
            <a:ext cx="2852928" cy="3063239"/>
          </a:xfrm>
          <a:prstGeom prst="rect">
            <a:avLst/>
          </a:prstGeom>
          <a:solidFill>
            <a:srgbClr val="1E1E2E"/>
          </a:solidFill>
          <a:ln w="15240">
            <a:solidFill>
              <a:srgbClr val="1DB9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218688" y="1298448"/>
            <a:ext cx="2852928" cy="384048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218688" y="1362456"/>
            <a:ext cx="28529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Backend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28416" y="1810512"/>
            <a:ext cx="54864" cy="182880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474720" y="1773936"/>
            <a:ext cx="250545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Segoe UI"/>
              </a:rPr>
              <a:t>Node.js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74720" y="2011680"/>
            <a:ext cx="25054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3B3B3"/>
                </a:solidFill>
                <a:latin typeface="Segoe UI"/>
              </a:rPr>
              <a:t>JavaScript runtime for the server – handles all requests asynchronously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328416" y="2404872"/>
            <a:ext cx="54864" cy="182880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474720" y="2368296"/>
            <a:ext cx="250545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Segoe UI"/>
              </a:rPr>
              <a:t>Express.js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74720" y="2606039"/>
            <a:ext cx="25054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3B3B3"/>
                </a:solidFill>
                <a:latin typeface="Segoe UI"/>
              </a:rPr>
              <a:t>Web framework for defining REST API routes and middleware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328416" y="2999232"/>
            <a:ext cx="54864" cy="182880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474720" y="2962656"/>
            <a:ext cx="250545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Segoe UI"/>
              </a:rPr>
              <a:t>Socket.io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74720" y="3200400"/>
            <a:ext cx="25054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3B3B3"/>
                </a:solidFill>
                <a:latin typeface="Segoe UI"/>
              </a:rPr>
              <a:t>Real-time bidirectional communication for Listen Together sessions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328416" y="3593591"/>
            <a:ext cx="54864" cy="182880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474720" y="3557015"/>
            <a:ext cx="250545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Segoe UI"/>
              </a:rPr>
              <a:t>Multer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74720" y="3794759"/>
            <a:ext cx="25054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3B3B3"/>
                </a:solidFill>
                <a:latin typeface="Segoe UI"/>
              </a:rPr>
              <a:t>Handles file uploads (profile pictures, cover images)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63056" y="1298448"/>
            <a:ext cx="2852928" cy="3063239"/>
          </a:xfrm>
          <a:prstGeom prst="rect">
            <a:avLst/>
          </a:prstGeom>
          <a:solidFill>
            <a:srgbClr val="1E1E2E"/>
          </a:solidFill>
          <a:ln w="15240">
            <a:solidFill>
              <a:srgbClr val="1ABC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6163056" y="1298448"/>
            <a:ext cx="2852928" cy="384048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163056" y="1362456"/>
            <a:ext cx="28529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Database &amp; Security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72784" y="1810512"/>
            <a:ext cx="54864" cy="18288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419088" y="1773936"/>
            <a:ext cx="250545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Segoe UI"/>
              </a:rPr>
              <a:t>MongoDB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19088" y="2011680"/>
            <a:ext cx="25054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3B3B3"/>
                </a:solidFill>
                <a:latin typeface="Segoe UI"/>
              </a:rPr>
              <a:t>NoSQL document database – stores Users, Songs, Playlists, Sessions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72784" y="2404872"/>
            <a:ext cx="54864" cy="18288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419088" y="2368296"/>
            <a:ext cx="250545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Segoe UI"/>
              </a:rPr>
              <a:t>Mongoose ODM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19088" y="2606039"/>
            <a:ext cx="25054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3B3B3"/>
                </a:solidFill>
                <a:latin typeface="Segoe UI"/>
              </a:rPr>
              <a:t>Schema modeling for MongoDB with validation and relationships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72784" y="2999232"/>
            <a:ext cx="54864" cy="18288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419088" y="2962656"/>
            <a:ext cx="250545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Segoe UI"/>
              </a:rPr>
              <a:t>JWT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19088" y="3200400"/>
            <a:ext cx="25054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3B3B3"/>
                </a:solidFill>
                <a:latin typeface="Segoe UI"/>
              </a:rPr>
              <a:t>JSON Web Tokens for stateless authentication (24h access + 30d refresh)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72784" y="3593591"/>
            <a:ext cx="54864" cy="18288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419088" y="3557015"/>
            <a:ext cx="250545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Segoe UI"/>
              </a:rPr>
              <a:t>bcrypt.js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19088" y="3794759"/>
            <a:ext cx="25054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3B3B3"/>
                </a:solidFill>
                <a:latin typeface="Segoe UI"/>
              </a:rPr>
              <a:t>Hashes passwords before storing – even the admin cannot see passwords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107424" y="1298448"/>
            <a:ext cx="2852928" cy="3063239"/>
          </a:xfrm>
          <a:prstGeom prst="rect">
            <a:avLst/>
          </a:prstGeom>
          <a:solidFill>
            <a:srgbClr val="1E1E2E"/>
          </a:solidFill>
          <a:ln w="15240">
            <a:solidFill>
              <a:srgbClr val="F3C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9107424" y="1298448"/>
            <a:ext cx="2852928" cy="384048"/>
          </a:xfrm>
          <a:prstGeom prst="rect">
            <a:avLst/>
          </a:prstGeom>
          <a:solidFill>
            <a:srgbClr val="F3C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9107424" y="1362456"/>
            <a:ext cx="28529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Tools &amp; Testing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217152" y="1810512"/>
            <a:ext cx="54864" cy="182880"/>
          </a:xfrm>
          <a:prstGeom prst="rect">
            <a:avLst/>
          </a:prstGeom>
          <a:solidFill>
            <a:srgbClr val="F3C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9363456" y="1773936"/>
            <a:ext cx="250545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Segoe UI"/>
              </a:rPr>
              <a:t>Jest + Supertest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363456" y="2011680"/>
            <a:ext cx="25054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3B3B3"/>
                </a:solidFill>
                <a:latin typeface="Segoe UI"/>
              </a:rPr>
              <a:t>Automated test suite for all API endpoints and controller logic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217152" y="2404872"/>
            <a:ext cx="54864" cy="182880"/>
          </a:xfrm>
          <a:prstGeom prst="rect">
            <a:avLst/>
          </a:prstGeom>
          <a:solidFill>
            <a:srgbClr val="F3C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9363456" y="2368296"/>
            <a:ext cx="250545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Segoe UI"/>
              </a:rPr>
              <a:t>Winston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363456" y="2606039"/>
            <a:ext cx="25054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3B3B3"/>
                </a:solidFill>
                <a:latin typeface="Segoe UI"/>
              </a:rPr>
              <a:t>Structured logging of server events, errors, and API requests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217152" y="2999232"/>
            <a:ext cx="54864" cy="182880"/>
          </a:xfrm>
          <a:prstGeom prst="rect">
            <a:avLst/>
          </a:prstGeom>
          <a:solidFill>
            <a:srgbClr val="F3C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9363456" y="2962656"/>
            <a:ext cx="250545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Segoe UI"/>
              </a:rPr>
              <a:t>Helmet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363456" y="3200400"/>
            <a:ext cx="25054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3B3B3"/>
                </a:solidFill>
                <a:latin typeface="Segoe UI"/>
              </a:rPr>
              <a:t>Sets security HTTP headers to protect against common web attacks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217152" y="3593591"/>
            <a:ext cx="54864" cy="182880"/>
          </a:xfrm>
          <a:prstGeom prst="rect">
            <a:avLst/>
          </a:prstGeom>
          <a:solidFill>
            <a:srgbClr val="F3C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9363456" y="3557015"/>
            <a:ext cx="250545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Segoe UI"/>
              </a:rPr>
              <a:t>Deezer API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363456" y="3794759"/>
            <a:ext cx="25054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3B3B3"/>
                </a:solidFill>
                <a:latin typeface="Segoe UI"/>
              </a:rPr>
              <a:t>External music API used to fetch song metadata, covers, and previews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74320" y="4572000"/>
            <a:ext cx="11640312" cy="2084831"/>
          </a:xfrm>
          <a:prstGeom prst="rect">
            <a:avLst/>
          </a:prstGeom>
          <a:solidFill>
            <a:srgbClr val="1E1E2E"/>
          </a:solidFill>
          <a:ln w="635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502920" y="46451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76DC8"/>
                </a:solidFill>
                <a:latin typeface="Segoe UI"/>
              </a:rPr>
              <a:t>Why This Stack?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57200" y="5029200"/>
            <a:ext cx="54864" cy="256032"/>
          </a:xfrm>
          <a:prstGeom prst="rect">
            <a:avLst/>
          </a:prstGeom>
          <a:solidFill>
            <a:srgbClr val="276D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585216" y="4992624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Segoe UI"/>
              </a:rPr>
              <a:t>Node.js + Express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85216" y="5248656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3B3B3"/>
                </a:solidFill>
                <a:latin typeface="Segoe UI"/>
              </a:rPr>
              <a:t>Fast, lightweight, perfect for API servers. JavaScript everywhere (front + back).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337560" y="5029200"/>
            <a:ext cx="54864" cy="256032"/>
          </a:xfrm>
          <a:prstGeom prst="rect">
            <a:avLst/>
          </a:prstGeom>
          <a:solidFill>
            <a:srgbClr val="276D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3465576" y="4992624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Segoe UI"/>
              </a:rPr>
              <a:t>MongoDB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465576" y="5248656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3B3B3"/>
                </a:solidFill>
                <a:latin typeface="Segoe UI"/>
              </a:rPr>
              <a:t>Schema-flexible – easy to add new fields without migrations. Great for rapid development.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217920" y="5029200"/>
            <a:ext cx="54864" cy="256032"/>
          </a:xfrm>
          <a:prstGeom prst="rect">
            <a:avLst/>
          </a:prstGeom>
          <a:solidFill>
            <a:srgbClr val="276D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6345936" y="4992624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Segoe UI"/>
              </a:rPr>
              <a:t>Socket.io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345936" y="5248656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3B3B3"/>
                </a:solidFill>
                <a:latin typeface="Segoe UI"/>
              </a:rPr>
              <a:t>Simplest way to add real-time features; handles WebSocket fallbacks automatically.</a:t>
            </a:r>
          </a:p>
        </p:txBody>
      </p:sp>
      <p:sp>
        <p:nvSpPr>
          <p:cNvPr id="77" name="Rectangle 76"/>
          <p:cNvSpPr/>
          <p:nvPr/>
        </p:nvSpPr>
        <p:spPr>
          <a:xfrm>
            <a:off x="9098280" y="5029200"/>
            <a:ext cx="54864" cy="256032"/>
          </a:xfrm>
          <a:prstGeom prst="rect">
            <a:avLst/>
          </a:prstGeom>
          <a:solidFill>
            <a:srgbClr val="276D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9226296" y="4992624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Segoe UI"/>
              </a:rPr>
              <a:t>Vanilla JS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226296" y="5248656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3B3B3"/>
                </a:solidFill>
                <a:latin typeface="Segoe UI"/>
              </a:rPr>
              <a:t>No build step, no framework overhead – great for learning fundamentals and fast deployment.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70432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33856"/>
            <a:ext cx="12188952" cy="36576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9B59B6"/>
                </a:solidFill>
                <a:latin typeface="Segoe UI"/>
              </a:rPr>
              <a:t>Project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3B3B3"/>
                </a:solidFill>
                <a:latin typeface="Segoe UI"/>
              </a:rPr>
              <a:t>Feature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261872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3B3B3"/>
                </a:solidFill>
                <a:latin typeface="Segoe UI"/>
              </a:rPr>
              <a:t>MyTunes is a full-stack, ad-free social music streaming web application built with Node.js/Express (backend) and vanilla HTML/CSS/JS (frontend). It delivers a Spotify-like experience while adding social features – friends, playlist sharing, mood-based discovery, and real-time synchronized group listening via Socket.io.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2240280"/>
            <a:ext cx="3657600" cy="1417320"/>
          </a:xfrm>
          <a:prstGeom prst="rect">
            <a:avLst/>
          </a:prstGeom>
          <a:solidFill>
            <a:srgbClr val="1E1E2E"/>
          </a:solidFill>
          <a:ln w="15240">
            <a:solidFill>
              <a:srgbClr val="1DB9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2240280"/>
            <a:ext cx="64008" cy="1417320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38912" y="2331720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DB954"/>
                </a:solidFill>
                <a:latin typeface="Segoe UI"/>
              </a:rPr>
              <a:t>🔐  Auth &amp; Security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" y="2715768"/>
            <a:ext cx="3429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3B3B3"/>
                </a:solidFill>
                <a:latin typeface="Segoe UI"/>
              </a:rPr>
              <a:t>JWT tokens · bcrypt hashing
Remember-Me refresh tokens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33087" y="2240280"/>
            <a:ext cx="3657600" cy="1417320"/>
          </a:xfrm>
          <a:prstGeom prst="rect">
            <a:avLst/>
          </a:prstGeom>
          <a:solidFill>
            <a:srgbClr val="1E1E2E"/>
          </a:solidFill>
          <a:ln w="1524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133087" y="2240280"/>
            <a:ext cx="64008" cy="141732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297679" y="2331720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B59B6"/>
                </a:solidFill>
                <a:latin typeface="Segoe UI"/>
              </a:rPr>
              <a:t>🎵  Music Streaming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79" y="2715768"/>
            <a:ext cx="3429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3B3B3"/>
                </a:solidFill>
                <a:latin typeface="Segoe UI"/>
              </a:rPr>
              <a:t>Browse, search &amp; stream songs
Full-featured audio player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91856" y="2240280"/>
            <a:ext cx="3657600" cy="1417320"/>
          </a:xfrm>
          <a:prstGeom prst="rect">
            <a:avLst/>
          </a:prstGeom>
          <a:solidFill>
            <a:srgbClr val="1E1E2E"/>
          </a:solidFill>
          <a:ln w="15240">
            <a:solidFill>
              <a:srgbClr val="1ABC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991856" y="2240280"/>
            <a:ext cx="64008" cy="141732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56448" y="2331720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BC9C"/>
                </a:solidFill>
                <a:latin typeface="Segoe UI"/>
              </a:rPr>
              <a:t>📋  Playlists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56448" y="2715768"/>
            <a:ext cx="3429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3B3B3"/>
                </a:solidFill>
                <a:latin typeface="Segoe UI"/>
              </a:rPr>
              <a:t>Create, edit &amp; manage playlists
Public / Friends / Private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822191"/>
            <a:ext cx="3657600" cy="1417320"/>
          </a:xfrm>
          <a:prstGeom prst="rect">
            <a:avLst/>
          </a:prstGeom>
          <a:solidFill>
            <a:srgbClr val="1E1E2E"/>
          </a:solidFill>
          <a:ln w="15240">
            <a:solidFill>
              <a:srgbClr val="F3C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74320" y="3822191"/>
            <a:ext cx="64008" cy="1417320"/>
          </a:xfrm>
          <a:prstGeom prst="rect">
            <a:avLst/>
          </a:prstGeom>
          <a:solidFill>
            <a:srgbClr val="F3C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38912" y="3913631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3C623"/>
                </a:solidFill>
                <a:latin typeface="Segoe UI"/>
              </a:rPr>
              <a:t>😊  Mood Discovery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" y="4297679"/>
            <a:ext cx="3429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3B3B3"/>
                </a:solidFill>
                <a:latin typeface="Segoe UI"/>
              </a:rPr>
              <a:t>Browse tracks by mood category
Happy, Sad, Energetic…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33087" y="3822191"/>
            <a:ext cx="3657600" cy="1417320"/>
          </a:xfrm>
          <a:prstGeom prst="rect">
            <a:avLst/>
          </a:prstGeom>
          <a:solidFill>
            <a:srgbClr val="1E1E2E"/>
          </a:solidFill>
          <a:ln w="15240">
            <a:solidFill>
              <a:srgbClr val="E5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133087" y="3822191"/>
            <a:ext cx="64008" cy="1417320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297679" y="3913631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53E3E"/>
                </a:solidFill>
                <a:latin typeface="Segoe UI"/>
              </a:rPr>
              <a:t>👥  Friends &amp; Social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79" y="4297679"/>
            <a:ext cx="3429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3B3B3"/>
                </a:solidFill>
                <a:latin typeface="Segoe UI"/>
              </a:rPr>
              <a:t>Send requests · Friend activity
Share music in real time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991856" y="3822191"/>
            <a:ext cx="3657600" cy="1417320"/>
          </a:xfrm>
          <a:prstGeom prst="rect">
            <a:avLst/>
          </a:prstGeom>
          <a:solidFill>
            <a:srgbClr val="1E1E2E"/>
          </a:solidFill>
          <a:ln w="1524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991856" y="3822191"/>
            <a:ext cx="64008" cy="141732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156448" y="3913631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E44AD"/>
                </a:solidFill>
                <a:latin typeface="Segoe UI"/>
              </a:rPr>
              <a:t>🎧  Listen Together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56448" y="4297679"/>
            <a:ext cx="3429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3B3B3"/>
                </a:solidFill>
                <a:latin typeface="Segoe UI"/>
              </a:rPr>
              <a:t>Socket.io room sync
Group listening sessions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51052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Segoe UI"/>
              </a:rPr>
              <a:t>Tech Stack: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600200" y="6510528"/>
            <a:ext cx="1188720" cy="246888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600200" y="6551676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</a:rPr>
              <a:t>Node.js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880360" y="6510528"/>
            <a:ext cx="1188720" cy="246888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2880360" y="6551676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</a:rPr>
              <a:t>Express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60520" y="6510528"/>
            <a:ext cx="1188720" cy="246888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160520" y="6551676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</a:rPr>
              <a:t>MongoDB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40680" y="6510528"/>
            <a:ext cx="1188720" cy="246888"/>
          </a:xfrm>
          <a:prstGeom prst="rect">
            <a:avLst/>
          </a:prstGeom>
          <a:solidFill>
            <a:srgbClr val="F3C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440680" y="6551676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</a:rPr>
              <a:t>Socket.io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720840" y="6510528"/>
            <a:ext cx="1188720" cy="246888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720840" y="6551676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</a:rPr>
              <a:t>JWT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01000" y="6510528"/>
            <a:ext cx="1645919" cy="246888"/>
          </a:xfrm>
          <a:prstGeom prst="rect">
            <a:avLst/>
          </a:prstGeom>
          <a:solidFill>
            <a:srgbClr val="276D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001000" y="6551676"/>
            <a:ext cx="164591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</a:rPr>
              <a:t>HTML / CSS / JS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70432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33856"/>
            <a:ext cx="12188952" cy="36576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DB954"/>
                </a:solidFill>
                <a:latin typeface="Segoe UI"/>
              </a:rPr>
              <a:t>Page 1 – Login &amp; Register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3B3B3"/>
                </a:solidFill>
                <a:latin typeface="Segoe UI"/>
              </a:rPr>
              <a:t>localhost:5500/index.html  |  Entry point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283464" y="1225295"/>
            <a:ext cx="6336792" cy="5541264"/>
          </a:xfrm>
          <a:prstGeom prst="rect">
            <a:avLst/>
          </a:prstGeom>
          <a:solidFill>
            <a:srgbClr val="1A1A2A"/>
          </a:solidFill>
          <a:ln w="19050">
            <a:solidFill>
              <a:srgbClr val="1DB9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1261872"/>
            <a:ext cx="6263640" cy="27432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411479" y="1335024"/>
            <a:ext cx="109728" cy="109728"/>
          </a:xfrm>
          <a:prstGeom prst="ellipse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576071" y="1335024"/>
            <a:ext cx="109728" cy="109728"/>
          </a:xfrm>
          <a:prstGeom prst="ellipse">
            <a:avLst/>
          </a:prstGeom>
          <a:solidFill>
            <a:srgbClr val="F3C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740664" y="1335024"/>
            <a:ext cx="109728" cy="109728"/>
          </a:xfrm>
          <a:prstGeom prst="ellipse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1307592"/>
            <a:ext cx="566927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3B3B3"/>
                </a:solidFill>
                <a:latin typeface="Segoe UI"/>
              </a:rPr>
              <a:t>localhost:5500/index.html</a:t>
            </a:r>
          </a:p>
        </p:txBody>
      </p:sp>
      <p:pic>
        <p:nvPicPr>
          <p:cNvPr id="12" name="Picture 11" descr="01_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371439"/>
            <a:ext cx="6263640" cy="3523297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6675120" y="1261872"/>
            <a:ext cx="5349240" cy="5468112"/>
          </a:xfrm>
          <a:prstGeom prst="rect">
            <a:avLst/>
          </a:prstGeom>
          <a:solidFill>
            <a:srgbClr val="1E1E2E"/>
          </a:solidFill>
          <a:ln w="635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903720" y="1426463"/>
            <a:ext cx="49834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DB954"/>
                </a:solidFill>
                <a:latin typeface="Segoe UI"/>
              </a:rPr>
              <a:t>How it Works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903720" y="1810512"/>
            <a:ext cx="4892040" cy="27432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876288" y="1956815"/>
            <a:ext cx="54864" cy="237744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040880" y="1920239"/>
            <a:ext cx="4800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Segoe UI"/>
              </a:rPr>
              <a:t>Split-Layout Design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0" y="2221991"/>
            <a:ext cx="4800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3B3B3"/>
                </a:solidFill>
                <a:latin typeface="Segoe UI"/>
              </a:rPr>
              <a:t>Left hero panel shows branding; right card holds Login/Register forms.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76288" y="2706623"/>
            <a:ext cx="54864" cy="237744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040880" y="2670047"/>
            <a:ext cx="4800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Segoe UI"/>
              </a:rPr>
              <a:t>Login Flow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0" y="2971799"/>
            <a:ext cx="4800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3B3B3"/>
                </a:solidFill>
                <a:latin typeface="Segoe UI"/>
              </a:rPr>
              <a:t>Email + Password → POST /api/auth/login → JWT stored → redirect to dashboard.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76288" y="3456431"/>
            <a:ext cx="54864" cy="237744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040880" y="3419855"/>
            <a:ext cx="4800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Segoe UI"/>
              </a:rPr>
              <a:t>Register Flow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3721607"/>
            <a:ext cx="4800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3B3B3"/>
                </a:solidFill>
                <a:latin typeface="Segoe UI"/>
              </a:rPr>
              <a:t>Username, Email, Password → POST /api/auth/register → auto-login on success.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76288" y="4206240"/>
            <a:ext cx="54864" cy="237744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040880" y="4169663"/>
            <a:ext cx="4800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Segoe UI"/>
              </a:rPr>
              <a:t>Remember 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0880" y="4471416"/>
            <a:ext cx="4800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3B3B3"/>
                </a:solidFill>
                <a:latin typeface="Segoe UI"/>
              </a:rPr>
              <a:t>Issues a 30-day refresh token so users stay signed in across sessions.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76288" y="4956048"/>
            <a:ext cx="54864" cy="237744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040880" y="4919472"/>
            <a:ext cx="4800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Segoe UI"/>
              </a:rPr>
              <a:t>Password Toggle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0880" y="5221224"/>
            <a:ext cx="4800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3B3B3"/>
                </a:solidFill>
                <a:latin typeface="Segoe UI"/>
              </a:rPr>
              <a:t>Eye icon switches the password field between hidden and visible text.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76288" y="5705856"/>
            <a:ext cx="54864" cy="237744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040880" y="5669280"/>
            <a:ext cx="4800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Segoe UI"/>
              </a:rPr>
              <a:t>Route Guard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0880" y="5971032"/>
            <a:ext cx="4800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3B3B3"/>
                </a:solidFill>
                <a:latin typeface="Segoe UI"/>
              </a:rPr>
              <a:t>If a valid JWT already exists the page skips login and opens the dashboard.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70432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33856"/>
            <a:ext cx="12188952" cy="36576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DB954"/>
                </a:solidFill>
                <a:latin typeface="Segoe UI"/>
              </a:rPr>
              <a:t>Page 1b – Register 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3B3B3"/>
                </a:solidFill>
                <a:latin typeface="Segoe UI"/>
              </a:rPr>
              <a:t>localhost:5500/index.html  |  Register tab</a:t>
            </a:r>
          </a:p>
        </p:txBody>
      </p:sp>
      <p:sp>
        <p:nvSpPr>
          <p:cNvPr id="6" name="Rectangle 5"/>
          <p:cNvSpPr/>
          <p:nvPr/>
        </p:nvSpPr>
        <p:spPr>
          <a:xfrm>
            <a:off x="283464" y="1225295"/>
            <a:ext cx="6336792" cy="5541264"/>
          </a:xfrm>
          <a:prstGeom prst="rect">
            <a:avLst/>
          </a:prstGeom>
          <a:solidFill>
            <a:srgbClr val="1A1A2A"/>
          </a:solidFill>
          <a:ln w="19050">
            <a:solidFill>
              <a:srgbClr val="1DB9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1261872"/>
            <a:ext cx="6263640" cy="27432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411479" y="1335024"/>
            <a:ext cx="109728" cy="109728"/>
          </a:xfrm>
          <a:prstGeom prst="ellipse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576071" y="1335024"/>
            <a:ext cx="109728" cy="109728"/>
          </a:xfrm>
          <a:prstGeom prst="ellipse">
            <a:avLst/>
          </a:prstGeom>
          <a:solidFill>
            <a:srgbClr val="F3C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740664" y="1335024"/>
            <a:ext cx="109728" cy="109728"/>
          </a:xfrm>
          <a:prstGeom prst="ellipse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1307592"/>
            <a:ext cx="566927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3B3B3"/>
                </a:solidFill>
                <a:latin typeface="Segoe UI"/>
              </a:rPr>
              <a:t>localhost:5500/index.html</a:t>
            </a:r>
          </a:p>
        </p:txBody>
      </p:sp>
      <p:pic>
        <p:nvPicPr>
          <p:cNvPr id="12" name="Picture 11" descr="01b_regi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371439"/>
            <a:ext cx="6263640" cy="3523297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6675120" y="1261872"/>
            <a:ext cx="5349240" cy="5468112"/>
          </a:xfrm>
          <a:prstGeom prst="rect">
            <a:avLst/>
          </a:prstGeom>
          <a:solidFill>
            <a:srgbClr val="1E1E2E"/>
          </a:solidFill>
          <a:ln w="635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903720" y="1426463"/>
            <a:ext cx="49834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DB954"/>
                </a:solidFill>
                <a:latin typeface="Segoe UI"/>
              </a:rPr>
              <a:t>How it Works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903720" y="1810512"/>
            <a:ext cx="4892040" cy="27432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876288" y="1956815"/>
            <a:ext cx="54864" cy="237744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040880" y="1920239"/>
            <a:ext cx="4800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Segoe UI"/>
              </a:rPr>
              <a:t>Username Field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0" y="2221991"/>
            <a:ext cx="4800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3B3B3"/>
                </a:solidFill>
                <a:latin typeface="Segoe UI"/>
              </a:rPr>
              <a:t>Must be unique. Validated on server via express-validator before saving.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76288" y="2706623"/>
            <a:ext cx="54864" cy="237744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040880" y="2670047"/>
            <a:ext cx="4800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Segoe UI"/>
              </a:rPr>
              <a:t>Email Validation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0" y="2971799"/>
            <a:ext cx="4800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3B3B3"/>
                </a:solidFill>
                <a:latin typeface="Segoe UI"/>
              </a:rPr>
              <a:t>Format checked on client and server. Duplicate email returns 409 Conflict.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76288" y="3456431"/>
            <a:ext cx="54864" cy="237744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040880" y="3419855"/>
            <a:ext cx="4800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Segoe UI"/>
              </a:rPr>
              <a:t>Password Rules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3721607"/>
            <a:ext cx="4800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3B3B3"/>
                </a:solidFill>
                <a:latin typeface="Segoe UI"/>
              </a:rPr>
              <a:t>Minimum strength rules enforced by validator; bcrypt hashes before storing.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76288" y="4206240"/>
            <a:ext cx="54864" cy="237744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040880" y="4169663"/>
            <a:ext cx="4800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Segoe UI"/>
              </a:rPr>
              <a:t>Confirm Password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0880" y="4471416"/>
            <a:ext cx="4800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3B3B3"/>
                </a:solidFill>
                <a:latin typeface="Segoe UI"/>
              </a:rPr>
              <a:t>Client check ensures both fields match before the form is submitted.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76288" y="4956048"/>
            <a:ext cx="54864" cy="237744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040880" y="4919472"/>
            <a:ext cx="4800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Segoe UI"/>
              </a:rPr>
              <a:t>Auto-Login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0880" y="5221224"/>
            <a:ext cx="4800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3B3B3"/>
                </a:solidFill>
                <a:latin typeface="Segoe UI"/>
              </a:rPr>
              <a:t>Successful registration returns a JWT and takes user straight to dashboard.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76288" y="5705856"/>
            <a:ext cx="54864" cy="237744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040880" y="5669280"/>
            <a:ext cx="4800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Segoe UI"/>
              </a:rPr>
              <a:t>Toggle Back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0880" y="5971032"/>
            <a:ext cx="4800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3B3B3"/>
                </a:solidFill>
                <a:latin typeface="Segoe UI"/>
              </a:rPr>
              <a:t>Login / Register buttons switch between the two forms with a CSS transition.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70432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33856"/>
            <a:ext cx="12188952" cy="36576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9B59B6"/>
                </a:solidFill>
                <a:latin typeface="Segoe UI"/>
              </a:rPr>
              <a:t>Page 2 – Dashboard: Home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3B3B3"/>
                </a:solidFill>
                <a:latin typeface="Segoe UI"/>
              </a:rPr>
              <a:t>localhost:5500/dashboard.html  |  Main hub</a:t>
            </a:r>
          </a:p>
        </p:txBody>
      </p:sp>
      <p:sp>
        <p:nvSpPr>
          <p:cNvPr id="6" name="Rectangle 5"/>
          <p:cNvSpPr/>
          <p:nvPr/>
        </p:nvSpPr>
        <p:spPr>
          <a:xfrm>
            <a:off x="283464" y="1225295"/>
            <a:ext cx="6336792" cy="5541264"/>
          </a:xfrm>
          <a:prstGeom prst="rect">
            <a:avLst/>
          </a:prstGeom>
          <a:solidFill>
            <a:srgbClr val="1A1A2A"/>
          </a:solidFill>
          <a:ln w="1905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1261872"/>
            <a:ext cx="6263640" cy="27432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411479" y="1335024"/>
            <a:ext cx="109728" cy="109728"/>
          </a:xfrm>
          <a:prstGeom prst="ellipse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576071" y="1335024"/>
            <a:ext cx="109728" cy="109728"/>
          </a:xfrm>
          <a:prstGeom prst="ellipse">
            <a:avLst/>
          </a:prstGeom>
          <a:solidFill>
            <a:srgbClr val="F3C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740664" y="1335024"/>
            <a:ext cx="109728" cy="109728"/>
          </a:xfrm>
          <a:prstGeom prst="ellipse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1307592"/>
            <a:ext cx="566927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3B3B3"/>
                </a:solidFill>
                <a:latin typeface="Segoe UI"/>
              </a:rPr>
              <a:t>localhost:5500/dashboard.html</a:t>
            </a:r>
          </a:p>
        </p:txBody>
      </p:sp>
      <p:pic>
        <p:nvPicPr>
          <p:cNvPr id="12" name="Picture 11" descr="02_dashboard_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371439"/>
            <a:ext cx="6263640" cy="3523297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6675120" y="1261872"/>
            <a:ext cx="5349240" cy="5468112"/>
          </a:xfrm>
          <a:prstGeom prst="rect">
            <a:avLst/>
          </a:prstGeom>
          <a:solidFill>
            <a:srgbClr val="1E1E2E"/>
          </a:solidFill>
          <a:ln w="635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903720" y="1426463"/>
            <a:ext cx="49834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9B59B6"/>
                </a:solidFill>
                <a:latin typeface="Segoe UI"/>
              </a:rPr>
              <a:t>How it Works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903720" y="1810512"/>
            <a:ext cx="4892040" cy="27432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876288" y="1956815"/>
            <a:ext cx="54864" cy="237744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040880" y="1920239"/>
            <a:ext cx="4800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Segoe UI"/>
              </a:rPr>
              <a:t>3-Column Layout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0" y="2221991"/>
            <a:ext cx="4800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3B3B3"/>
                </a:solidFill>
                <a:latin typeface="Segoe UI"/>
              </a:rPr>
              <a:t>Sidebar (nav) | Scrollable content area | Optional Queue/Friends panel.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76288" y="2706623"/>
            <a:ext cx="54864" cy="237744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040880" y="2670047"/>
            <a:ext cx="4800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Segoe UI"/>
              </a:rPr>
              <a:t>Time-Aware Greeting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0" y="2971799"/>
            <a:ext cx="4800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3B3B3"/>
                </a:solidFill>
                <a:latin typeface="Segoe UI"/>
              </a:rPr>
              <a:t>Shows Good Morning/Afternoon/Evening based on the user's local time.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76288" y="3456431"/>
            <a:ext cx="54864" cy="237744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040880" y="3419855"/>
            <a:ext cx="4800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Segoe UI"/>
              </a:rPr>
              <a:t>Trending Songs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3721607"/>
            <a:ext cx="4800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3B3B3"/>
                </a:solidFill>
                <a:latin typeface="Segoe UI"/>
              </a:rPr>
              <a:t>Fetched from GET /api/music/trending. Shown as clickable song cards.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76288" y="4206240"/>
            <a:ext cx="54864" cy="237744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040880" y="4169663"/>
            <a:ext cx="4800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Segoe UI"/>
              </a:rPr>
              <a:t>Browse by Mood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0880" y="4471416"/>
            <a:ext cx="4800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3B3B3"/>
                </a:solidFill>
                <a:latin typeface="Segoe UI"/>
              </a:rPr>
              <a:t>6 mood tiles. Each loads GET /api/music/mood?tag=&lt;mood&gt; when clicked.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76288" y="4956048"/>
            <a:ext cx="54864" cy="237744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040880" y="4919472"/>
            <a:ext cx="4800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Segoe UI"/>
              </a:rPr>
              <a:t>Your Playlists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0880" y="5221224"/>
            <a:ext cx="4800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3B3B3"/>
                </a:solidFill>
                <a:latin typeface="Segoe UI"/>
              </a:rPr>
              <a:t>Loaded via GET /api/playlists/mine. Click a card to open the full playlist.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76288" y="5705856"/>
            <a:ext cx="54864" cy="237744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040880" y="5669280"/>
            <a:ext cx="4800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Segoe UI"/>
              </a:rPr>
              <a:t>Persistent Player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0880" y="5971032"/>
            <a:ext cx="4800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3B3B3"/>
                </a:solidFill>
                <a:latin typeface="Segoe UI"/>
              </a:rPr>
              <a:t>Fixed footer bar: art, title, play/pause, next, prev, shuffle, volume.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70432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33856"/>
            <a:ext cx="12188952" cy="36576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BC9C"/>
                </a:solidFill>
                <a:latin typeface="Segoe UI"/>
              </a:rPr>
              <a:t>Page 3 – 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3B3B3"/>
                </a:solidFill>
                <a:latin typeface="Segoe UI"/>
              </a:rPr>
              <a:t>dashboard.html  |  Search section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283464" y="1225295"/>
            <a:ext cx="6336792" cy="5541264"/>
          </a:xfrm>
          <a:prstGeom prst="rect">
            <a:avLst/>
          </a:prstGeom>
          <a:solidFill>
            <a:srgbClr val="1A1A2A"/>
          </a:solidFill>
          <a:ln w="19050">
            <a:solidFill>
              <a:srgbClr val="1ABC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1261872"/>
            <a:ext cx="6263640" cy="27432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411479" y="1335024"/>
            <a:ext cx="109728" cy="109728"/>
          </a:xfrm>
          <a:prstGeom prst="ellipse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576071" y="1335024"/>
            <a:ext cx="109728" cy="109728"/>
          </a:xfrm>
          <a:prstGeom prst="ellipse">
            <a:avLst/>
          </a:prstGeom>
          <a:solidFill>
            <a:srgbClr val="F3C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740664" y="1335024"/>
            <a:ext cx="109728" cy="109728"/>
          </a:xfrm>
          <a:prstGeom prst="ellipse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1307592"/>
            <a:ext cx="566927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3B3B3"/>
                </a:solidFill>
                <a:latin typeface="Segoe UI"/>
              </a:rPr>
              <a:t>dashboard.html</a:t>
            </a:r>
          </a:p>
        </p:txBody>
      </p:sp>
      <p:pic>
        <p:nvPicPr>
          <p:cNvPr id="12" name="Picture 11" descr="03_se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371439"/>
            <a:ext cx="6263640" cy="3523297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6675120" y="1261872"/>
            <a:ext cx="5349240" cy="5468112"/>
          </a:xfrm>
          <a:prstGeom prst="rect">
            <a:avLst/>
          </a:prstGeom>
          <a:solidFill>
            <a:srgbClr val="1E1E2E"/>
          </a:solidFill>
          <a:ln w="635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903720" y="1426463"/>
            <a:ext cx="49834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BC9C"/>
                </a:solidFill>
                <a:latin typeface="Segoe UI"/>
              </a:rPr>
              <a:t>How it Works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903720" y="1810512"/>
            <a:ext cx="4892040" cy="27432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876288" y="1956815"/>
            <a:ext cx="54864" cy="237744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040880" y="1920239"/>
            <a:ext cx="4800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Segoe UI"/>
              </a:rPr>
              <a:t>Real-time Search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0" y="2221991"/>
            <a:ext cx="4800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3B3B3"/>
                </a:solidFill>
                <a:latin typeface="Segoe UI"/>
              </a:rPr>
              <a:t>Debounced input hits GET /api/music/search?q=&lt;query&gt; as the user types.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76288" y="2706623"/>
            <a:ext cx="54864" cy="237744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040880" y="2670047"/>
            <a:ext cx="4800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Segoe UI"/>
              </a:rPr>
              <a:t>Song Cards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0" y="2971799"/>
            <a:ext cx="4800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3B3B3"/>
                </a:solidFill>
                <a:latin typeface="Segoe UI"/>
              </a:rPr>
              <a:t>Each result shows thumbnail, title, artist, duration. Click to play instantly.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76288" y="3456431"/>
            <a:ext cx="54864" cy="237744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040880" y="3419855"/>
            <a:ext cx="4800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Segoe UI"/>
              </a:rPr>
              <a:t>Like from Results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3721607"/>
            <a:ext cx="4800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3B3B3"/>
                </a:solidFill>
                <a:latin typeface="Segoe UI"/>
              </a:rPr>
              <a:t>Heart icon toggles POST /api/music/:id/like. State syncs to Liked Songs.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76288" y="4206240"/>
            <a:ext cx="54864" cy="237744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040880" y="4169663"/>
            <a:ext cx="4800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Segoe UI"/>
              </a:rPr>
              <a:t>Add to Playlist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0880" y="4471416"/>
            <a:ext cx="4800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3B3B3"/>
                </a:solidFill>
                <a:latin typeface="Segoe UI"/>
              </a:rPr>
              <a:t>'+' button opens the Add to Playlist modal. Song added via PATCH /api/playlists/:id.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76288" y="4956048"/>
            <a:ext cx="54864" cy="237744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040880" y="4919472"/>
            <a:ext cx="4800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Segoe UI"/>
              </a:rPr>
              <a:t>Context Menu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0880" y="5221224"/>
            <a:ext cx="4800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3B3B3"/>
                </a:solidFill>
                <a:latin typeface="Segoe UI"/>
              </a:rPr>
              <a:t>Right-click → Play, Like, Add to Playlist, Add to Queue, Share.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76288" y="5705856"/>
            <a:ext cx="54864" cy="237744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040880" y="5669280"/>
            <a:ext cx="4800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Segoe UI"/>
              </a:rPr>
              <a:t>Queue Integration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0880" y="5971032"/>
            <a:ext cx="4800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3B3B3"/>
                </a:solidFill>
                <a:latin typeface="Segoe UI"/>
              </a:rPr>
              <a:t>Songs added to queue appear in the right panel and play in order.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70432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33856"/>
            <a:ext cx="12188952" cy="36576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9B59B6"/>
                </a:solidFill>
                <a:latin typeface="Segoe UI"/>
              </a:rPr>
              <a:t>Page 4 – Library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3B3B3"/>
                </a:solidFill>
                <a:latin typeface="Segoe UI"/>
              </a:rPr>
              <a:t>dashboard.html  |  Library section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283464" y="1225295"/>
            <a:ext cx="6336792" cy="5541264"/>
          </a:xfrm>
          <a:prstGeom prst="rect">
            <a:avLst/>
          </a:prstGeom>
          <a:solidFill>
            <a:srgbClr val="1A1A2A"/>
          </a:solidFill>
          <a:ln w="1905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1261872"/>
            <a:ext cx="6263640" cy="27432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411479" y="1335024"/>
            <a:ext cx="109728" cy="109728"/>
          </a:xfrm>
          <a:prstGeom prst="ellipse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576071" y="1335024"/>
            <a:ext cx="109728" cy="109728"/>
          </a:xfrm>
          <a:prstGeom prst="ellipse">
            <a:avLst/>
          </a:prstGeom>
          <a:solidFill>
            <a:srgbClr val="F3C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740664" y="1335024"/>
            <a:ext cx="109728" cy="109728"/>
          </a:xfrm>
          <a:prstGeom prst="ellipse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1307592"/>
            <a:ext cx="566927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3B3B3"/>
                </a:solidFill>
                <a:latin typeface="Segoe UI"/>
              </a:rPr>
              <a:t>dashboard.html</a:t>
            </a:r>
          </a:p>
        </p:txBody>
      </p:sp>
      <p:pic>
        <p:nvPicPr>
          <p:cNvPr id="12" name="Picture 11" descr="04_libr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371439"/>
            <a:ext cx="6263640" cy="3523297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6675120" y="1261872"/>
            <a:ext cx="5349240" cy="5468112"/>
          </a:xfrm>
          <a:prstGeom prst="rect">
            <a:avLst/>
          </a:prstGeom>
          <a:solidFill>
            <a:srgbClr val="1E1E2E"/>
          </a:solidFill>
          <a:ln w="635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903720" y="1426463"/>
            <a:ext cx="49834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9B59B6"/>
                </a:solidFill>
                <a:latin typeface="Segoe UI"/>
              </a:rPr>
              <a:t>How it Works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903720" y="1810512"/>
            <a:ext cx="4892040" cy="27432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876288" y="1956815"/>
            <a:ext cx="54864" cy="237744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040880" y="1920239"/>
            <a:ext cx="4800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Segoe UI"/>
              </a:rPr>
              <a:t>Playlists Grid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0" y="2221991"/>
            <a:ext cx="4800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3B3B3"/>
                </a:solidFill>
                <a:latin typeface="Segoe UI"/>
              </a:rPr>
              <a:t>All user playlists as cards. Create new ones with the + Create button.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76288" y="2706623"/>
            <a:ext cx="54864" cy="237744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040880" y="2670047"/>
            <a:ext cx="4800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Segoe UI"/>
              </a:rPr>
              <a:t>Recently Played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0" y="2971799"/>
            <a:ext cx="4800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3B3B3"/>
                </a:solidFill>
                <a:latin typeface="Segoe UI"/>
              </a:rPr>
              <a:t>Tracks stored in PlayHistory. Fetched from GET /api/music/history.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76288" y="3456431"/>
            <a:ext cx="54864" cy="237744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040880" y="3419855"/>
            <a:ext cx="4800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Segoe UI"/>
              </a:rPr>
              <a:t>Create Playlist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3721607"/>
            <a:ext cx="4800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3B3B3"/>
                </a:solidFill>
                <a:latin typeface="Segoe UI"/>
              </a:rPr>
              <a:t>Modal: Name, Description, Visibility (Public/Friends/Private).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76288" y="4206240"/>
            <a:ext cx="54864" cy="237744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040880" y="4169663"/>
            <a:ext cx="4800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Segoe UI"/>
              </a:rPr>
              <a:t>Playlist Card Click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0880" y="4471416"/>
            <a:ext cx="4800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3B3B3"/>
                </a:solidFill>
                <a:latin typeface="Segoe UI"/>
              </a:rPr>
              <a:t>Opens full detail view with song list, hero image, play/shuffle.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76288" y="4956048"/>
            <a:ext cx="54864" cy="237744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040880" y="4919472"/>
            <a:ext cx="4800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Segoe UI"/>
              </a:rPr>
              <a:t>Sidebar Playlists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0880" y="5221224"/>
            <a:ext cx="4800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3B3B3"/>
                </a:solidFill>
                <a:latin typeface="Segoe UI"/>
              </a:rPr>
              <a:t>Playlists also listed in the sidebar for quick access from any page.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76288" y="5705856"/>
            <a:ext cx="54864" cy="237744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040880" y="5669280"/>
            <a:ext cx="4800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Segoe UI"/>
              </a:rPr>
              <a:t>Delete Playlist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0880" y="5971032"/>
            <a:ext cx="4800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3B3B3"/>
                </a:solidFill>
                <a:latin typeface="Segoe UI"/>
              </a:rPr>
              <a:t>Trash icon → DELETE /api/playlists/:id after a confirm dialog.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70432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33856"/>
            <a:ext cx="12188952" cy="36576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53E3E"/>
                </a:solidFill>
                <a:latin typeface="Segoe UI"/>
              </a:rPr>
              <a:t>Page 5 – Liked Songs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3B3B3"/>
                </a:solidFill>
                <a:latin typeface="Segoe UI"/>
              </a:rPr>
              <a:t>dashboard.html  |  Liked Songs</a:t>
            </a:r>
          </a:p>
        </p:txBody>
      </p:sp>
      <p:sp>
        <p:nvSpPr>
          <p:cNvPr id="6" name="Rectangle 5"/>
          <p:cNvSpPr/>
          <p:nvPr/>
        </p:nvSpPr>
        <p:spPr>
          <a:xfrm>
            <a:off x="283464" y="1225295"/>
            <a:ext cx="6336792" cy="5541264"/>
          </a:xfrm>
          <a:prstGeom prst="rect">
            <a:avLst/>
          </a:prstGeom>
          <a:solidFill>
            <a:srgbClr val="1A1A2A"/>
          </a:solidFill>
          <a:ln w="19050">
            <a:solidFill>
              <a:srgbClr val="E5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1261872"/>
            <a:ext cx="6263640" cy="27432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411479" y="1335024"/>
            <a:ext cx="109728" cy="109728"/>
          </a:xfrm>
          <a:prstGeom prst="ellipse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576071" y="1335024"/>
            <a:ext cx="109728" cy="109728"/>
          </a:xfrm>
          <a:prstGeom prst="ellipse">
            <a:avLst/>
          </a:prstGeom>
          <a:solidFill>
            <a:srgbClr val="F3C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740664" y="1335024"/>
            <a:ext cx="109728" cy="109728"/>
          </a:xfrm>
          <a:prstGeom prst="ellipse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1307592"/>
            <a:ext cx="566927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3B3B3"/>
                </a:solidFill>
                <a:latin typeface="Segoe UI"/>
              </a:rPr>
              <a:t>dashboard.html</a:t>
            </a:r>
          </a:p>
        </p:txBody>
      </p:sp>
      <p:pic>
        <p:nvPicPr>
          <p:cNvPr id="12" name="Picture 11" descr="05_liked_so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371439"/>
            <a:ext cx="6263640" cy="3523297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6675120" y="1261872"/>
            <a:ext cx="5349240" cy="5468112"/>
          </a:xfrm>
          <a:prstGeom prst="rect">
            <a:avLst/>
          </a:prstGeom>
          <a:solidFill>
            <a:srgbClr val="1E1E2E"/>
          </a:solidFill>
          <a:ln w="635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903720" y="1426463"/>
            <a:ext cx="49834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53E3E"/>
                </a:solidFill>
                <a:latin typeface="Segoe UI"/>
              </a:rPr>
              <a:t>How it Works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903720" y="1810512"/>
            <a:ext cx="4892040" cy="27432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876288" y="1956815"/>
            <a:ext cx="54864" cy="237744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040880" y="1920239"/>
            <a:ext cx="4800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Segoe UI"/>
              </a:rPr>
              <a:t>Saved Songs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0" y="2221991"/>
            <a:ext cx="4800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3B3B3"/>
                </a:solidFill>
                <a:latin typeface="Segoe UI"/>
              </a:rPr>
              <a:t>All liked songs stored here. Fetched via GET /api/music/liked.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76288" y="2706623"/>
            <a:ext cx="54864" cy="237744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040880" y="2670047"/>
            <a:ext cx="4800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Segoe UI"/>
              </a:rPr>
              <a:t>Play All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0" y="2971799"/>
            <a:ext cx="4800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3B3B3"/>
                </a:solidFill>
                <a:latin typeface="Segoe UI"/>
              </a:rPr>
              <a:t>Green play button loads all liked songs into the queue from song #1.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76288" y="3456431"/>
            <a:ext cx="54864" cy="237744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040880" y="3419855"/>
            <a:ext cx="4800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Segoe UI"/>
              </a:rPr>
              <a:t>Shuffle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3721607"/>
            <a:ext cx="4800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3B3B3"/>
                </a:solidFill>
                <a:latin typeface="Segoe UI"/>
              </a:rPr>
              <a:t>Randomises the playback order of the liked songs queue.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76288" y="4206240"/>
            <a:ext cx="54864" cy="237744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040880" y="4169663"/>
            <a:ext cx="4800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Segoe UI"/>
              </a:rPr>
              <a:t>Song Table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0880" y="4471416"/>
            <a:ext cx="4800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3B3B3"/>
                </a:solidFill>
                <a:latin typeface="Segoe UI"/>
              </a:rPr>
              <a:t>Columns: #, Title, Artist, Duration, Like toggle. Click row to play.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76288" y="4956048"/>
            <a:ext cx="54864" cy="237744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040880" y="4919472"/>
            <a:ext cx="4800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Segoe UI"/>
              </a:rPr>
              <a:t>Unlike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0880" y="5221224"/>
            <a:ext cx="4800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3B3B3"/>
                </a:solidFill>
                <a:latin typeface="Segoe UI"/>
              </a:rPr>
              <a:t>Click the heart again to unlike. POST /api/music/:id/like toggles state.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76288" y="5705856"/>
            <a:ext cx="54864" cy="237744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040880" y="5669280"/>
            <a:ext cx="4800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Segoe UI"/>
              </a:rPr>
              <a:t>Song Count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0880" y="5971032"/>
            <a:ext cx="4800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3B3B3"/>
                </a:solidFill>
                <a:latin typeface="Segoe UI"/>
              </a:rPr>
              <a:t>Total count shown in header, updated dynamically after each like/unlike.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70432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33856"/>
            <a:ext cx="12188952" cy="36576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BC9C"/>
                </a:solidFill>
                <a:latin typeface="Segoe UI"/>
              </a:rPr>
              <a:t>Page 6 – Friends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3B3B3"/>
                </a:solidFill>
                <a:latin typeface="Segoe UI"/>
              </a:rPr>
              <a:t>dashboard.html  |  Friends section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283464" y="1225295"/>
            <a:ext cx="6336792" cy="5541264"/>
          </a:xfrm>
          <a:prstGeom prst="rect">
            <a:avLst/>
          </a:prstGeom>
          <a:solidFill>
            <a:srgbClr val="1A1A2A"/>
          </a:solidFill>
          <a:ln w="19050">
            <a:solidFill>
              <a:srgbClr val="1ABC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1261872"/>
            <a:ext cx="6263640" cy="27432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411479" y="1335024"/>
            <a:ext cx="109728" cy="109728"/>
          </a:xfrm>
          <a:prstGeom prst="ellipse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576071" y="1335024"/>
            <a:ext cx="109728" cy="109728"/>
          </a:xfrm>
          <a:prstGeom prst="ellipse">
            <a:avLst/>
          </a:prstGeom>
          <a:solidFill>
            <a:srgbClr val="F3C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740664" y="1335024"/>
            <a:ext cx="109728" cy="109728"/>
          </a:xfrm>
          <a:prstGeom prst="ellipse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1307592"/>
            <a:ext cx="566927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3B3B3"/>
                </a:solidFill>
                <a:latin typeface="Segoe UI"/>
              </a:rPr>
              <a:t>dashboard.html</a:t>
            </a:r>
          </a:p>
        </p:txBody>
      </p:sp>
      <p:pic>
        <p:nvPicPr>
          <p:cNvPr id="12" name="Picture 11" descr="06_frie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371439"/>
            <a:ext cx="6263640" cy="3523297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6675120" y="1261872"/>
            <a:ext cx="5349240" cy="5468112"/>
          </a:xfrm>
          <a:prstGeom prst="rect">
            <a:avLst/>
          </a:prstGeom>
          <a:solidFill>
            <a:srgbClr val="1E1E2E"/>
          </a:solidFill>
          <a:ln w="635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903720" y="1426463"/>
            <a:ext cx="49834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BC9C"/>
                </a:solidFill>
                <a:latin typeface="Segoe UI"/>
              </a:rPr>
              <a:t>How it Works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903720" y="1810512"/>
            <a:ext cx="4892040" cy="27432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876288" y="1956815"/>
            <a:ext cx="54864" cy="237744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040880" y="1920239"/>
            <a:ext cx="4800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Segoe UI"/>
              </a:rPr>
              <a:t>Search Users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0" y="2221991"/>
            <a:ext cx="4800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3B3B3"/>
                </a:solidFill>
                <a:latin typeface="Segoe UI"/>
              </a:rPr>
              <a:t>Type a username or email to find users → POST /api/friends/search.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76288" y="2706623"/>
            <a:ext cx="54864" cy="237744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040880" y="2670047"/>
            <a:ext cx="4800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Segoe UI"/>
              </a:rPr>
              <a:t>Send Request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0" y="2971799"/>
            <a:ext cx="4800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3B3B3"/>
                </a:solidFill>
                <a:latin typeface="Segoe UI"/>
              </a:rPr>
              <a:t>Click Add → POST /api/friends/request. Recipient sees it in Pending.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76288" y="3456431"/>
            <a:ext cx="54864" cy="237744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040880" y="3419855"/>
            <a:ext cx="4800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Segoe UI"/>
              </a:rPr>
              <a:t>Accept / Decline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3721607"/>
            <a:ext cx="4800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3B3B3"/>
                </a:solidFill>
                <a:latin typeface="Segoe UI"/>
              </a:rPr>
              <a:t>POST /api/friends/accept or /decline. Creates a mutual Friendship.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76288" y="4206240"/>
            <a:ext cx="54864" cy="237744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040880" y="4169663"/>
            <a:ext cx="4800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Segoe UI"/>
              </a:rPr>
              <a:t>Friends List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0880" y="4471416"/>
            <a:ext cx="4800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3B3B3"/>
                </a:solidFill>
                <a:latin typeface="Segoe UI"/>
              </a:rPr>
              <a:t>Shows confirmed friends. Active friends show their current song.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76288" y="4956048"/>
            <a:ext cx="54864" cy="237744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040880" y="4919472"/>
            <a:ext cx="4800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Segoe UI"/>
              </a:rPr>
              <a:t>Real-time Activity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0880" y="5221224"/>
            <a:ext cx="4800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3B3B3"/>
                </a:solidFill>
                <a:latin typeface="Segoe UI"/>
              </a:rPr>
              <a:t>Right panel updates live via Socket.io 'user-listening' events.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76288" y="5705856"/>
            <a:ext cx="54864" cy="237744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040880" y="5669280"/>
            <a:ext cx="4800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Segoe UI"/>
              </a:rPr>
              <a:t>Remove Friend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0880" y="5971032"/>
            <a:ext cx="4800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3B3B3"/>
                </a:solidFill>
                <a:latin typeface="Segoe UI"/>
              </a:rPr>
              <a:t>Three-dot menu → Remove Friend. Both users' lists update instantly.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70432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33856"/>
            <a:ext cx="12188952" cy="36576"/>
          </a:xfrm>
          <a:prstGeom prst="rect">
            <a:avLst/>
          </a:prstGeom>
          <a:solidFill>
            <a:srgbClr val="276D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76DC8"/>
                </a:solidFill>
                <a:latin typeface="Segoe UI"/>
              </a:rPr>
              <a:t>Page 7 – Listen Together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3B3B3"/>
                </a:solidFill>
                <a:latin typeface="Segoe UI"/>
              </a:rPr>
              <a:t>dashboard.html  |  Listen Together</a:t>
            </a:r>
          </a:p>
        </p:txBody>
      </p:sp>
      <p:sp>
        <p:nvSpPr>
          <p:cNvPr id="6" name="Rectangle 5"/>
          <p:cNvSpPr/>
          <p:nvPr/>
        </p:nvSpPr>
        <p:spPr>
          <a:xfrm>
            <a:off x="283464" y="1225295"/>
            <a:ext cx="6336792" cy="5541264"/>
          </a:xfrm>
          <a:prstGeom prst="rect">
            <a:avLst/>
          </a:prstGeom>
          <a:solidFill>
            <a:srgbClr val="1A1A2A"/>
          </a:solidFill>
          <a:ln w="19050">
            <a:solidFill>
              <a:srgbClr val="276D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1261872"/>
            <a:ext cx="6263640" cy="27432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411479" y="1335024"/>
            <a:ext cx="109728" cy="109728"/>
          </a:xfrm>
          <a:prstGeom prst="ellipse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576071" y="1335024"/>
            <a:ext cx="109728" cy="109728"/>
          </a:xfrm>
          <a:prstGeom prst="ellipse">
            <a:avLst/>
          </a:prstGeom>
          <a:solidFill>
            <a:srgbClr val="F3C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740664" y="1335024"/>
            <a:ext cx="109728" cy="109728"/>
          </a:xfrm>
          <a:prstGeom prst="ellipse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1307592"/>
            <a:ext cx="566927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3B3B3"/>
                </a:solidFill>
                <a:latin typeface="Segoe UI"/>
              </a:rPr>
              <a:t>dashboard.html</a:t>
            </a:r>
          </a:p>
        </p:txBody>
      </p:sp>
      <p:pic>
        <p:nvPicPr>
          <p:cNvPr id="12" name="Picture 11" descr="07_listen_togeth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371439"/>
            <a:ext cx="6263640" cy="3523297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6675120" y="1261872"/>
            <a:ext cx="5349240" cy="5468112"/>
          </a:xfrm>
          <a:prstGeom prst="rect">
            <a:avLst/>
          </a:prstGeom>
          <a:solidFill>
            <a:srgbClr val="1E1E2E"/>
          </a:solidFill>
          <a:ln w="635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903720" y="1426463"/>
            <a:ext cx="49834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76DC8"/>
                </a:solidFill>
                <a:latin typeface="Segoe UI"/>
              </a:rPr>
              <a:t>How it Works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903720" y="1810512"/>
            <a:ext cx="4892040" cy="27432"/>
          </a:xfrm>
          <a:prstGeom prst="rect">
            <a:avLst/>
          </a:prstGeom>
          <a:solidFill>
            <a:srgbClr val="276D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876288" y="1956815"/>
            <a:ext cx="54864" cy="237744"/>
          </a:xfrm>
          <a:prstGeom prst="rect">
            <a:avLst/>
          </a:prstGeom>
          <a:solidFill>
            <a:srgbClr val="276D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040880" y="1920239"/>
            <a:ext cx="4800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Segoe UI"/>
              </a:rPr>
              <a:t>Create a Session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0" y="2221991"/>
            <a:ext cx="4800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3B3B3"/>
                </a:solidFill>
                <a:latin typeface="Segoe UI"/>
              </a:rPr>
              <a:t>Host names it, sets visibility. Server generates a unique 6-char code.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76288" y="2706623"/>
            <a:ext cx="54864" cy="237744"/>
          </a:xfrm>
          <a:prstGeom prst="rect">
            <a:avLst/>
          </a:prstGeom>
          <a:solidFill>
            <a:srgbClr val="276D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040880" y="2670047"/>
            <a:ext cx="4800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Segoe UI"/>
              </a:rPr>
              <a:t>Join by Code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0" y="2971799"/>
            <a:ext cx="4800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3B3B3"/>
                </a:solidFill>
                <a:latin typeface="Segoe UI"/>
              </a:rPr>
              <a:t>Others enter the code in Join modal → POST /api/sessions/join.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76288" y="3456431"/>
            <a:ext cx="54864" cy="237744"/>
          </a:xfrm>
          <a:prstGeom prst="rect">
            <a:avLst/>
          </a:prstGeom>
          <a:solidFill>
            <a:srgbClr val="276D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040880" y="3419855"/>
            <a:ext cx="4800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dirty="0">
                <a:solidFill>
                  <a:srgbClr val="FFFFFF"/>
                </a:solidFill>
                <a:latin typeface="Segoe UI"/>
              </a:rPr>
              <a:t>Socket.io Sync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3721607"/>
            <a:ext cx="4800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3B3B3"/>
                </a:solidFill>
                <a:latin typeface="Segoe UI"/>
              </a:rPr>
              <a:t>Play, Pause, Seek, Skip events broadcast to all room members instantly.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76288" y="4206240"/>
            <a:ext cx="54864" cy="237744"/>
          </a:xfrm>
          <a:prstGeom prst="rect">
            <a:avLst/>
          </a:prstGeom>
          <a:solidFill>
            <a:srgbClr val="276D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040880" y="4169663"/>
            <a:ext cx="4800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Segoe UI"/>
              </a:rPr>
              <a:t>Host Control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0880" y="4471416"/>
            <a:ext cx="4800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3B3B3"/>
                </a:solidFill>
                <a:latin typeface="Segoe UI"/>
              </a:rPr>
              <a:t>Only the host controls the song. All listeners follow host's state.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76288" y="4956048"/>
            <a:ext cx="54864" cy="237744"/>
          </a:xfrm>
          <a:prstGeom prst="rect">
            <a:avLst/>
          </a:prstGeom>
          <a:solidFill>
            <a:srgbClr val="276D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040880" y="4919472"/>
            <a:ext cx="4800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Segoe UI"/>
              </a:rPr>
              <a:t>Live Member List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0880" y="5221224"/>
            <a:ext cx="4800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3B3B3"/>
                </a:solidFill>
                <a:latin typeface="Segoe UI"/>
              </a:rPr>
              <a:t>Shows who is in the session, updated as people join or leave.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76288" y="5705856"/>
            <a:ext cx="54864" cy="237744"/>
          </a:xfrm>
          <a:prstGeom prst="rect">
            <a:avLst/>
          </a:prstGeom>
          <a:solidFill>
            <a:srgbClr val="276D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040880" y="5669280"/>
            <a:ext cx="4800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Segoe UI"/>
              </a:rPr>
              <a:t>Leave Session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0880" y="5971032"/>
            <a:ext cx="4800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3B3B3"/>
                </a:solidFill>
                <a:latin typeface="Segoe UI"/>
              </a:rPr>
              <a:t>Any member can leave. If host leaves, session ends for everyone.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70432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33856"/>
            <a:ext cx="12188952" cy="36576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DB954"/>
                </a:solidFill>
                <a:latin typeface="Segoe UI"/>
              </a:rPr>
              <a:t>Page 8 – Profile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3B3B3"/>
                </a:solidFill>
                <a:latin typeface="Segoe UI"/>
              </a:rPr>
              <a:t>dashboard.html  |  Profile section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283464" y="1225295"/>
            <a:ext cx="6336792" cy="5541264"/>
          </a:xfrm>
          <a:prstGeom prst="rect">
            <a:avLst/>
          </a:prstGeom>
          <a:solidFill>
            <a:srgbClr val="1A1A2A"/>
          </a:solidFill>
          <a:ln w="19050">
            <a:solidFill>
              <a:srgbClr val="1DB9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1261872"/>
            <a:ext cx="6263640" cy="27432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411479" y="1335024"/>
            <a:ext cx="109728" cy="109728"/>
          </a:xfrm>
          <a:prstGeom prst="ellipse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576071" y="1335024"/>
            <a:ext cx="109728" cy="109728"/>
          </a:xfrm>
          <a:prstGeom prst="ellipse">
            <a:avLst/>
          </a:prstGeom>
          <a:solidFill>
            <a:srgbClr val="F3C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740664" y="1335024"/>
            <a:ext cx="109728" cy="109728"/>
          </a:xfrm>
          <a:prstGeom prst="ellipse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1307592"/>
            <a:ext cx="566927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3B3B3"/>
                </a:solidFill>
                <a:latin typeface="Segoe UI"/>
              </a:rPr>
              <a:t>dashboard.html</a:t>
            </a:r>
          </a:p>
        </p:txBody>
      </p:sp>
      <p:pic>
        <p:nvPicPr>
          <p:cNvPr id="12" name="Picture 11" descr="07_listen_togeth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371439"/>
            <a:ext cx="6263640" cy="3523297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6675120" y="1261872"/>
            <a:ext cx="5349240" cy="5468112"/>
          </a:xfrm>
          <a:prstGeom prst="rect">
            <a:avLst/>
          </a:prstGeom>
          <a:solidFill>
            <a:srgbClr val="1E1E2E"/>
          </a:solidFill>
          <a:ln w="635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903720" y="1426463"/>
            <a:ext cx="49834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DB954"/>
                </a:solidFill>
                <a:latin typeface="Segoe UI"/>
              </a:rPr>
              <a:t>How it Works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903720" y="1810512"/>
            <a:ext cx="4892040" cy="27432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876288" y="1956815"/>
            <a:ext cx="54864" cy="237744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040880" y="1920239"/>
            <a:ext cx="4800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Segoe UI"/>
              </a:rPr>
              <a:t>Profile Hero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0" y="2221991"/>
            <a:ext cx="4800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3B3B3"/>
                </a:solidFill>
                <a:latin typeface="Segoe UI"/>
              </a:rPr>
              <a:t>Shows avatar, display name, total plays, playlists, and friends count.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76288" y="2706623"/>
            <a:ext cx="54864" cy="237744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040880" y="2670047"/>
            <a:ext cx="4800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Segoe UI"/>
              </a:rPr>
              <a:t>Edit Profile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0" y="2971799"/>
            <a:ext cx="4800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3B3B3"/>
                </a:solidFill>
                <a:latin typeface="Segoe UI"/>
              </a:rPr>
              <a:t>Modal to update Display Name, Bio, picture. PATCH /api/users/profile.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76288" y="3456431"/>
            <a:ext cx="54864" cy="237744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040880" y="3419855"/>
            <a:ext cx="4800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Segoe UI"/>
              </a:rPr>
              <a:t>Top Tracks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3721607"/>
            <a:ext cx="4800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3B3B3"/>
                </a:solidFill>
                <a:latin typeface="Segoe UI"/>
              </a:rPr>
              <a:t>Most-played songs from PlayHistory, sorted by play count descending.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76288" y="4206240"/>
            <a:ext cx="54864" cy="237744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040880" y="4169663"/>
            <a:ext cx="4800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Segoe UI"/>
              </a:rPr>
              <a:t>Public Playlists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0880" y="4471416"/>
            <a:ext cx="4800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3B3B3"/>
                </a:solidFill>
                <a:latin typeface="Segoe UI"/>
              </a:rPr>
              <a:t>Playlists marked Public are visible to other users.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76288" y="4956048"/>
            <a:ext cx="54864" cy="237744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040880" y="4919472"/>
            <a:ext cx="4800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Segoe UI"/>
              </a:rPr>
              <a:t>Stats Panel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0880" y="5221224"/>
            <a:ext cx="4800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3B3B3"/>
                </a:solidFill>
                <a:latin typeface="Segoe UI"/>
              </a:rPr>
              <a:t>Plays, playlists, friends counts from GET /api/users/me + history.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76288" y="5705856"/>
            <a:ext cx="54864" cy="237744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040880" y="5669280"/>
            <a:ext cx="4800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Segoe UI"/>
              </a:rPr>
              <a:t>Settings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0880" y="5971032"/>
            <a:ext cx="4800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3B3B3"/>
                </a:solidFill>
                <a:latin typeface="Segoe UI"/>
              </a:rPr>
              <a:t>Dark Mode, AutoPlay, Language preferences stored in user document.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70432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33856"/>
            <a:ext cx="12188952" cy="36576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9B59B6"/>
                </a:solidFill>
                <a:latin typeface="Segoe UI"/>
              </a:rPr>
              <a:t>Feature – Create Playlist Modal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3B3B3"/>
                </a:solidFill>
                <a:latin typeface="Segoe UI"/>
              </a:rPr>
              <a:t>Modal overlay from Library or Home page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283464" y="1225295"/>
            <a:ext cx="6336792" cy="5541264"/>
          </a:xfrm>
          <a:prstGeom prst="rect">
            <a:avLst/>
          </a:prstGeom>
          <a:solidFill>
            <a:srgbClr val="1A1A2A"/>
          </a:solidFill>
          <a:ln w="1905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1261872"/>
            <a:ext cx="6263640" cy="27432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411479" y="1335024"/>
            <a:ext cx="109728" cy="109728"/>
          </a:xfrm>
          <a:prstGeom prst="ellipse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576071" y="1335024"/>
            <a:ext cx="109728" cy="109728"/>
          </a:xfrm>
          <a:prstGeom prst="ellipse">
            <a:avLst/>
          </a:prstGeom>
          <a:solidFill>
            <a:srgbClr val="F3C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740664" y="1335024"/>
            <a:ext cx="109728" cy="109728"/>
          </a:xfrm>
          <a:prstGeom prst="ellipse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1307592"/>
            <a:ext cx="566927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3B3B3"/>
                </a:solidFill>
                <a:latin typeface="Segoe UI"/>
              </a:rPr>
              <a:t>Modal overlay from Library or Home page</a:t>
            </a:r>
          </a:p>
        </p:txBody>
      </p:sp>
      <p:pic>
        <p:nvPicPr>
          <p:cNvPr id="12" name="Picture 11" descr="09_create_playl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371439"/>
            <a:ext cx="6263640" cy="3523297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6675120" y="1261872"/>
            <a:ext cx="5349240" cy="5468112"/>
          </a:xfrm>
          <a:prstGeom prst="rect">
            <a:avLst/>
          </a:prstGeom>
          <a:solidFill>
            <a:srgbClr val="1E1E2E"/>
          </a:solidFill>
          <a:ln w="635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903720" y="1426463"/>
            <a:ext cx="49834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9B59B6"/>
                </a:solidFill>
                <a:latin typeface="Segoe UI"/>
              </a:rPr>
              <a:t>How it Works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903720" y="1810512"/>
            <a:ext cx="4892040" cy="27432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876288" y="1956815"/>
            <a:ext cx="54864" cy="237744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040880" y="1920239"/>
            <a:ext cx="4800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Segoe UI"/>
              </a:rPr>
              <a:t>Playlist Name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0" y="2221991"/>
            <a:ext cx="4800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3B3B3"/>
                </a:solidFill>
                <a:latin typeface="Segoe UI"/>
              </a:rPr>
              <a:t>Required. Validated client-side and server-side before saving.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76288" y="2706623"/>
            <a:ext cx="54864" cy="237744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040880" y="2670047"/>
            <a:ext cx="4800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Segoe UI"/>
              </a:rPr>
              <a:t>Description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0" y="2971799"/>
            <a:ext cx="4800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3B3B3"/>
                </a:solidFill>
                <a:latin typeface="Segoe UI"/>
              </a:rPr>
              <a:t>Optional text describing the playlist. Stored in MongoDB document.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76288" y="3456431"/>
            <a:ext cx="54864" cy="237744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040880" y="3419855"/>
            <a:ext cx="4800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Segoe UI"/>
              </a:rPr>
              <a:t>Visibility Options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3721607"/>
            <a:ext cx="4800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3B3B3"/>
                </a:solidFill>
                <a:latin typeface="Segoe UI"/>
              </a:rPr>
              <a:t>Public – anyone. Friends Only – only friends. Private – only you.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76288" y="4206240"/>
            <a:ext cx="54864" cy="237744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040880" y="4169663"/>
            <a:ext cx="4800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Segoe UI"/>
              </a:rPr>
              <a:t>Create Button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0880" y="4471416"/>
            <a:ext cx="4800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3B3B3"/>
                </a:solidFill>
                <a:latin typeface="Segoe UI"/>
              </a:rPr>
              <a:t>POST /api/playlists → New playlist added to sidebar and Library instantly.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76288" y="4956048"/>
            <a:ext cx="54864" cy="237744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040880" y="4919472"/>
            <a:ext cx="4800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Segoe UI"/>
              </a:rPr>
              <a:t>Cancel / Escape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0880" y="5221224"/>
            <a:ext cx="4800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3B3B3"/>
                </a:solidFill>
                <a:latin typeface="Segoe UI"/>
              </a:rPr>
              <a:t>Dismisses modal without creating. Escape key also closes it.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76288" y="5705856"/>
            <a:ext cx="54864" cy="237744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040880" y="5669280"/>
            <a:ext cx="4800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Segoe UI"/>
              </a:rPr>
              <a:t>Instant Refresh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0880" y="5971032"/>
            <a:ext cx="4800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3B3B3"/>
                </a:solidFill>
                <a:latin typeface="Segoe UI"/>
              </a:rPr>
              <a:t>Playlists grid and sidebar update without a full page reload.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70432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33856"/>
            <a:ext cx="12188952" cy="36576"/>
          </a:xfrm>
          <a:prstGeom prst="rect">
            <a:avLst/>
          </a:prstGeom>
          <a:solidFill>
            <a:srgbClr val="276D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dirty="0">
                <a:solidFill>
                  <a:srgbClr val="276DC8"/>
                </a:solidFill>
                <a:latin typeface="Segoe UI"/>
              </a:rP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3B3B3"/>
                </a:solidFill>
                <a:latin typeface="Segoe UI"/>
              </a:rPr>
              <a:t>How all layers connect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298448"/>
            <a:ext cx="2514600" cy="4526280"/>
          </a:xfrm>
          <a:prstGeom prst="rect">
            <a:avLst/>
          </a:prstGeom>
          <a:solidFill>
            <a:srgbClr val="1E1E2E"/>
          </a:solidFill>
          <a:ln w="1905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1298448"/>
            <a:ext cx="2514600" cy="45720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1362456"/>
            <a:ext cx="2514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FRONTEND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883664"/>
            <a:ext cx="2176272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3B3B3"/>
                </a:solidFill>
                <a:latin typeface="Segoe UI"/>
              </a:rPr>
              <a:t>HTML · CSS · JS
Vanilla SPA
• index.html
• dashboard.html
• playlist.html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29000" y="1298448"/>
            <a:ext cx="2514600" cy="4526280"/>
          </a:xfrm>
          <a:prstGeom prst="rect">
            <a:avLst/>
          </a:prstGeom>
          <a:solidFill>
            <a:srgbClr val="1E1E2E"/>
          </a:solidFill>
          <a:ln w="19050">
            <a:solidFill>
              <a:srgbClr val="1DB9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429000" y="1298448"/>
            <a:ext cx="2514600" cy="457200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29000" y="1362456"/>
            <a:ext cx="2514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REST API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1883664"/>
            <a:ext cx="2176272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3B3B3"/>
                </a:solidFill>
                <a:latin typeface="Segoe UI"/>
              </a:rPr>
              <a:t>Node.js + Express
• /api/auth
• /api/music
• /api/playlists
• /api/friends
• /api/sessions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37960" y="1298448"/>
            <a:ext cx="2514600" cy="4526280"/>
          </a:xfrm>
          <a:prstGeom prst="rect">
            <a:avLst/>
          </a:prstGeom>
          <a:solidFill>
            <a:srgbClr val="1E1E2E"/>
          </a:solidFill>
          <a:ln w="19050">
            <a:solidFill>
              <a:srgbClr val="276D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537960" y="1298448"/>
            <a:ext cx="2514600" cy="457200"/>
          </a:xfrm>
          <a:prstGeom prst="rect">
            <a:avLst/>
          </a:prstGeom>
          <a:solidFill>
            <a:srgbClr val="276D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37960" y="1362456"/>
            <a:ext cx="2514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REAL-TIME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0840" y="1883664"/>
            <a:ext cx="2176272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3B3B3"/>
                </a:solidFill>
                <a:latin typeface="Segoe UI"/>
              </a:rPr>
              <a:t>Socket.io
• Room events:
  play/pause/seek
• Friends activity
  broadcast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646920" y="1298448"/>
            <a:ext cx="2514600" cy="4526280"/>
          </a:xfrm>
          <a:prstGeom prst="rect">
            <a:avLst/>
          </a:prstGeom>
          <a:solidFill>
            <a:srgbClr val="1E1E2E"/>
          </a:solidFill>
          <a:ln w="19050">
            <a:solidFill>
              <a:srgbClr val="F3C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646920" y="1298448"/>
            <a:ext cx="2514600" cy="457200"/>
          </a:xfrm>
          <a:prstGeom prst="rect">
            <a:avLst/>
          </a:prstGeom>
          <a:solidFill>
            <a:srgbClr val="F3C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46920" y="1362456"/>
            <a:ext cx="2514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DATABASE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29800" y="1883664"/>
            <a:ext cx="2176272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3B3B3"/>
                </a:solidFill>
                <a:latin typeface="Segoe UI"/>
              </a:rPr>
              <a:t>MongoDB
+ Mongoose ODM
• User · Song
• Playlist
• Friendship
• ListeningSession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89504" y="32918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B3B3B3"/>
                </a:solidFill>
                <a:latin typeface="Segoe UI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98464" y="32918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B3B3B3"/>
                </a:solidFill>
                <a:latin typeface="Segoe UI"/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07424" y="32918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B3B3B3"/>
                </a:solidFill>
                <a:latin typeface="Segoe UI"/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5989320"/>
            <a:ext cx="3749039" cy="658368"/>
          </a:xfrm>
          <a:prstGeom prst="rect">
            <a:avLst/>
          </a:prstGeom>
          <a:solidFill>
            <a:srgbClr val="1E1E2E"/>
          </a:solidFill>
          <a:ln w="10160">
            <a:solidFill>
              <a:srgbClr val="1DB9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7200" y="6035040"/>
            <a:ext cx="3520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DB954"/>
                </a:solidFill>
                <a:latin typeface="Segoe UI"/>
              </a:rPr>
              <a:t>🔐 Security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291072"/>
            <a:ext cx="3520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3B3B3"/>
                </a:solidFill>
                <a:latin typeface="Segoe UI"/>
              </a:rPr>
              <a:t>JWT 24h + 30d Refresh · bcrypt hashing · Protected route middleware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97679" y="5989320"/>
            <a:ext cx="3749039" cy="658368"/>
          </a:xfrm>
          <a:prstGeom prst="rect">
            <a:avLst/>
          </a:prstGeom>
          <a:solidFill>
            <a:srgbClr val="1E1E2E"/>
          </a:solidFill>
          <a:ln w="1016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434840" y="6035040"/>
            <a:ext cx="3520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9B59B6"/>
                </a:solidFill>
                <a:latin typeface="Segoe UI"/>
              </a:rPr>
              <a:t>🧪 Testing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34840" y="6291072"/>
            <a:ext cx="3520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3B3B3"/>
                </a:solidFill>
                <a:latin typeface="Segoe UI"/>
              </a:rPr>
              <a:t>Jest + Supertest · Unit &amp; Integration tests for controllers &amp; routes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75319" y="5989320"/>
            <a:ext cx="3749039" cy="658368"/>
          </a:xfrm>
          <a:prstGeom prst="rect">
            <a:avLst/>
          </a:prstGeom>
          <a:solidFill>
            <a:srgbClr val="1E1E2E"/>
          </a:solidFill>
          <a:ln w="10160">
            <a:solidFill>
              <a:srgbClr val="1ABC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412480" y="6035040"/>
            <a:ext cx="3520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BC9C"/>
                </a:solidFill>
                <a:latin typeface="Segoe UI"/>
              </a:rPr>
              <a:t>🚀 Deployment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0" y="6291072"/>
            <a:ext cx="3520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dirty="0">
                <a:solidFill>
                  <a:srgbClr val="B3B3B3"/>
                </a:solidFill>
                <a:latin typeface="Segoe UI"/>
              </a:rPr>
              <a:t>Backend: Node.js port 5000 · Frontend: static files via Express/</a:t>
            </a:r>
            <a:r>
              <a:rPr sz="900" b="0" dirty="0" err="1">
                <a:solidFill>
                  <a:srgbClr val="B3B3B3"/>
                </a:solidFill>
                <a:latin typeface="Segoe UI"/>
              </a:rPr>
              <a:t>LiveServer</a:t>
            </a:r>
            <a:endParaRPr sz="900" b="0" dirty="0">
              <a:solidFill>
                <a:srgbClr val="B3B3B3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70432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33856"/>
            <a:ext cx="12188952" cy="36576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DB954"/>
                </a:solidFill>
                <a:latin typeface="Segoe UI"/>
              </a:rPr>
              <a:t>Outcomes &amp;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3B3B3"/>
                </a:solidFill>
                <a:latin typeface="Segoe UI"/>
              </a:rPr>
              <a:t>What we achieved by the end of this semester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298448"/>
            <a:ext cx="11548872" cy="749808"/>
          </a:xfrm>
          <a:prstGeom prst="rect">
            <a:avLst/>
          </a:prstGeom>
          <a:solidFill>
            <a:srgbClr val="0A2A0A"/>
          </a:solidFill>
          <a:ln w="15240">
            <a:solidFill>
              <a:srgbClr val="1DB9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389888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Segoe UI"/>
              </a:rPr>
              <a:t>MyTunes was successfully built and deployed as a fully working full-stack web application. All planned features for this semester were implemented, tested, and are functional.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2176272"/>
            <a:ext cx="2743200" cy="1097280"/>
          </a:xfrm>
          <a:prstGeom prst="rect">
            <a:avLst/>
          </a:prstGeom>
          <a:solidFill>
            <a:srgbClr val="1E1E2E"/>
          </a:solidFill>
          <a:ln w="15240">
            <a:solidFill>
              <a:srgbClr val="1DB9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20040" y="224028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dirty="0">
                <a:solidFill>
                  <a:srgbClr val="1DB954"/>
                </a:solidFill>
                <a:latin typeface="Segoe UI"/>
              </a:rPr>
              <a:t>8</a:t>
            </a:r>
            <a:r>
              <a:rPr lang="en-IN" sz="3200" b="1" dirty="0">
                <a:solidFill>
                  <a:srgbClr val="1DB954"/>
                </a:solidFill>
                <a:latin typeface="Segoe UI"/>
              </a:rPr>
              <a:t>+</a:t>
            </a:r>
            <a:endParaRPr sz="3200" b="1" dirty="0">
              <a:solidFill>
                <a:srgbClr val="1DB954"/>
              </a:solidFill>
              <a:latin typeface="Segoe U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20040" y="281635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dirty="0">
                <a:solidFill>
                  <a:srgbClr val="B3B3B3"/>
                </a:solidFill>
                <a:latin typeface="Segoe UI"/>
              </a:rPr>
              <a:t>Major Features
Delivered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2176272"/>
            <a:ext cx="2743200" cy="1097280"/>
          </a:xfrm>
          <a:prstGeom prst="rect">
            <a:avLst/>
          </a:prstGeom>
          <a:solidFill>
            <a:srgbClr val="1E1E2E"/>
          </a:solidFill>
          <a:ln w="1524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246120" y="224028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9B59B6"/>
                </a:solidFill>
                <a:latin typeface="Segoe UI"/>
              </a:rPr>
              <a:t>20+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281635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B3B3B3"/>
                </a:solidFill>
                <a:latin typeface="Segoe UI"/>
              </a:rPr>
              <a:t>REST API
Endpoints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2176272"/>
            <a:ext cx="2743200" cy="1097280"/>
          </a:xfrm>
          <a:prstGeom prst="rect">
            <a:avLst/>
          </a:prstGeom>
          <a:solidFill>
            <a:srgbClr val="1E1E2E"/>
          </a:solidFill>
          <a:ln w="15240">
            <a:solidFill>
              <a:srgbClr val="1ABC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172200" y="224028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1ABC9C"/>
                </a:solidFill>
                <a:latin typeface="Segoe UI"/>
              </a:rPr>
              <a:t>100%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281635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B3B3B3"/>
                </a:solidFill>
                <a:latin typeface="Segoe UI"/>
              </a:rPr>
              <a:t>Core Features
Working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98280" y="2176272"/>
            <a:ext cx="2743200" cy="1097280"/>
          </a:xfrm>
          <a:prstGeom prst="rect">
            <a:avLst/>
          </a:prstGeom>
          <a:solidFill>
            <a:srgbClr val="1E1E2E"/>
          </a:solidFill>
          <a:ln w="15240">
            <a:solidFill>
              <a:srgbClr val="F3C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098280" y="224028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3C623"/>
                </a:solidFill>
                <a:latin typeface="Segoe UI"/>
              </a:rPr>
              <a:t>Jest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98280" y="281635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B3B3B3"/>
                </a:solidFill>
                <a:latin typeface="Segoe UI"/>
              </a:rPr>
              <a:t>Automated
Tests Written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438144"/>
            <a:ext cx="54864" cy="228600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02920" y="340156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Segoe UI"/>
              </a:rPr>
              <a:t>Secure Authentication Working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3675888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3B3B3"/>
                </a:solidFill>
                <a:latin typeface="Segoe UI"/>
              </a:rPr>
              <a:t>Users can register, login, and stay logged in with JWT + refresh tokens. Passwords are bcrypt-hashed.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26480" y="3438144"/>
            <a:ext cx="54864" cy="22860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09360" y="340156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Segoe UI"/>
              </a:rPr>
              <a:t>Friends System Complete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3675888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3B3B3"/>
                </a:solidFill>
                <a:latin typeface="Segoe UI"/>
              </a:rPr>
              <a:t>Friend requests, acceptance, declination, and removal all work. Friends' listening activity is visible.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4187952"/>
            <a:ext cx="54864" cy="228600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02920" y="4151376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Segoe UI"/>
              </a:rPr>
              <a:t>Music Streaming Functional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4425696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3B3B3"/>
                </a:solidFill>
                <a:latin typeface="Segoe UI"/>
              </a:rPr>
              <a:t>Songs load from the Deezer API. The audio player supports play, pause, skip, shuffle, repeat, and volume.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26480" y="4187952"/>
            <a:ext cx="54864" cy="22860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09360" y="4151376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Segoe UI"/>
              </a:rPr>
              <a:t>Listen Together Functional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4425696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3B3B3"/>
                </a:solidFill>
                <a:latin typeface="Segoe UI"/>
              </a:rPr>
              <a:t>Multiple users can join a session and listen to the same song in sync via Socket.io rooms.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4937760"/>
            <a:ext cx="54864" cy="228600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02920" y="4901184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Segoe UI"/>
              </a:rPr>
              <a:t>Playlists Fully Operational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5175504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3B3B3"/>
                </a:solidFill>
                <a:latin typeface="Segoe UI"/>
              </a:rPr>
              <a:t>Users can create, rename, delete playlists and add/remove songs. Visibility controls work correctly.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26480" y="4937760"/>
            <a:ext cx="54864" cy="22860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309360" y="4901184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Segoe UI"/>
              </a:rPr>
              <a:t>Profile Page Live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09360" y="5175504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3B3B3"/>
                </a:solidFill>
                <a:latin typeface="Segoe UI"/>
              </a:rPr>
              <a:t>User profile shows real stats: play count, playlists, friends. Editing display name and bio works.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0040" y="5687568"/>
            <a:ext cx="54864" cy="228600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02920" y="5650992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Segoe UI"/>
              </a:rPr>
              <a:t>Mood Discovery Works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5925312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3B3B3"/>
                </a:solidFill>
                <a:latin typeface="Segoe UI"/>
              </a:rPr>
              <a:t>6 mood categories return correct filtered song lists from the backend based on mood tags.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26480" y="5687568"/>
            <a:ext cx="54864" cy="22860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309360" y="5650992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Segoe UI"/>
              </a:rPr>
              <a:t>Test Suite Passes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09360" y="5925312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3B3B3"/>
                </a:solidFill>
                <a:latin typeface="Segoe UI"/>
              </a:rPr>
              <a:t>Jest + Supertest tests cover auth routes, music routes, and playlist operations. All passing.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70432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33856"/>
            <a:ext cx="12188952" cy="36576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9B59B6"/>
                </a:solidFill>
                <a:latin typeface="Segoe UI"/>
              </a:rPr>
              <a:t>Future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3B3B3"/>
                </a:solidFill>
                <a:latin typeface="Segoe UI"/>
              </a:rPr>
              <a:t>Next Semester Implementation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261872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3B3B3"/>
                </a:solidFill>
                <a:latin typeface="Segoe UI"/>
              </a:rPr>
              <a:t>MyTunes has a strong foundation. In the next semester, we plan to expand it with advanced features that make it even more powerful, social, and accessible to users on all devices.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2011680"/>
            <a:ext cx="3730752" cy="1536192"/>
          </a:xfrm>
          <a:prstGeom prst="rect">
            <a:avLst/>
          </a:prstGeom>
          <a:solidFill>
            <a:srgbClr val="1E1E2E"/>
          </a:solidFill>
          <a:ln w="12700">
            <a:solidFill>
              <a:srgbClr val="1DB9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2011680"/>
            <a:ext cx="3730752" cy="347472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2066544"/>
            <a:ext cx="35478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Segoe UI"/>
              </a:rPr>
              <a:t>📱 Mobile Application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53512" y="2395728"/>
            <a:ext cx="1005840" cy="228600"/>
          </a:xfrm>
          <a:prstGeom prst="rect">
            <a:avLst/>
          </a:prstGeom>
          <a:solidFill>
            <a:srgbClr val="10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953512" y="241401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DB954"/>
                </a:solidFill>
                <a:latin typeface="Segoe UI"/>
              </a:rPr>
              <a:t>Phase 1 Priority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2670048"/>
            <a:ext cx="352958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3B3B3"/>
                </a:solidFill>
                <a:latin typeface="Segoe UI"/>
              </a:rPr>
              <a:t>Build a React Native mobile app for iOS and Android. All existing features (streaming, playlists, friends, Listen Together) available on phone.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78224" y="2011680"/>
            <a:ext cx="3730752" cy="1536192"/>
          </a:xfrm>
          <a:prstGeom prst="rect">
            <a:avLst/>
          </a:prstGeom>
          <a:solidFill>
            <a:srgbClr val="1E1E2E"/>
          </a:solidFill>
          <a:ln w="127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078224" y="2011680"/>
            <a:ext cx="3730752" cy="347472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187952" y="2066544"/>
            <a:ext cx="35478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Segoe UI"/>
              </a:rPr>
              <a:t>🤖 ML Recommendations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57415" y="2395728"/>
            <a:ext cx="1005840" cy="228600"/>
          </a:xfrm>
          <a:prstGeom prst="rect">
            <a:avLst/>
          </a:prstGeom>
          <a:solidFill>
            <a:srgbClr val="10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757415" y="241401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B59B6"/>
                </a:solidFill>
                <a:latin typeface="Segoe UI"/>
              </a:rPr>
              <a:t>Phase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87952" y="2670048"/>
            <a:ext cx="352958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3B3B3"/>
                </a:solidFill>
                <a:latin typeface="Segoe UI"/>
              </a:rPr>
              <a:t>Train a recommendation model on user play history to suggest 'You might also like' songs. Personalise the Home page feed for each user.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82128" y="2011680"/>
            <a:ext cx="3730752" cy="1536192"/>
          </a:xfrm>
          <a:prstGeom prst="rect">
            <a:avLst/>
          </a:prstGeom>
          <a:solidFill>
            <a:srgbClr val="1E1E2E"/>
          </a:solidFill>
          <a:ln w="12700">
            <a:solidFill>
              <a:srgbClr val="276D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882128" y="2011680"/>
            <a:ext cx="3730752" cy="347472"/>
          </a:xfrm>
          <a:prstGeom prst="rect">
            <a:avLst/>
          </a:prstGeom>
          <a:solidFill>
            <a:srgbClr val="276D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991856" y="2066544"/>
            <a:ext cx="35478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Segoe UI"/>
              </a:rPr>
              <a:t>💬 In-App Chat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561320" y="2395728"/>
            <a:ext cx="1005840" cy="228600"/>
          </a:xfrm>
          <a:prstGeom prst="rect">
            <a:avLst/>
          </a:prstGeom>
          <a:solidFill>
            <a:srgbClr val="10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561320" y="241401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276DC8"/>
                </a:solidFill>
                <a:latin typeface="Segoe UI"/>
              </a:rPr>
              <a:t>Phase 1 Priority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91856" y="2670048"/>
            <a:ext cx="352958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3B3B3"/>
                </a:solidFill>
                <a:latin typeface="Segoe UI"/>
              </a:rPr>
              <a:t>Add a real-time chat system so friends can message each other. Send song links directly in chat with a one-click play button.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694176"/>
            <a:ext cx="3730752" cy="1536192"/>
          </a:xfrm>
          <a:prstGeom prst="rect">
            <a:avLst/>
          </a:prstGeom>
          <a:solidFill>
            <a:srgbClr val="1E1E2E"/>
          </a:solidFill>
          <a:ln w="12700">
            <a:solidFill>
              <a:srgbClr val="1ABC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274320" y="3694176"/>
            <a:ext cx="3730752" cy="347472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84048" y="3749039"/>
            <a:ext cx="35478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Segoe UI"/>
              </a:rPr>
              <a:t>⬇️ Offline Mode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953512" y="4078224"/>
            <a:ext cx="1005840" cy="228600"/>
          </a:xfrm>
          <a:prstGeom prst="rect">
            <a:avLst/>
          </a:prstGeom>
          <a:solidFill>
            <a:srgbClr val="10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953512" y="409651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ABC9C"/>
                </a:solidFill>
                <a:latin typeface="Segoe UI"/>
              </a:rPr>
              <a:t>Phase 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4048" y="4352544"/>
            <a:ext cx="352958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3B3B3"/>
                </a:solidFill>
                <a:latin typeface="Segoe UI"/>
              </a:rPr>
              <a:t>Allow users to download songs for offline playback using IndexedDB or a PWA service worker. Syncs back when the connection is restored.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078224" y="3694176"/>
            <a:ext cx="3730752" cy="1536192"/>
          </a:xfrm>
          <a:prstGeom prst="rect">
            <a:avLst/>
          </a:prstGeom>
          <a:solidFill>
            <a:srgbClr val="1E1E2E"/>
          </a:solidFill>
          <a:ln w="12700">
            <a:solidFill>
              <a:srgbClr val="F3C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4078224" y="3694176"/>
            <a:ext cx="3730752" cy="347472"/>
          </a:xfrm>
          <a:prstGeom prst="rect">
            <a:avLst/>
          </a:prstGeom>
          <a:solidFill>
            <a:srgbClr val="F3C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187952" y="3749039"/>
            <a:ext cx="35478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Segoe UI"/>
              </a:rPr>
              <a:t>🎤 Artist Accounts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757415" y="4078224"/>
            <a:ext cx="1005840" cy="228600"/>
          </a:xfrm>
          <a:prstGeom prst="rect">
            <a:avLst/>
          </a:prstGeom>
          <a:solidFill>
            <a:srgbClr val="10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757415" y="409651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3C623"/>
                </a:solidFill>
                <a:latin typeface="Segoe UI"/>
              </a:rPr>
              <a:t>Phase 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87952" y="4352544"/>
            <a:ext cx="352958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3B3B3"/>
                </a:solidFill>
                <a:latin typeface="Segoe UI"/>
              </a:rPr>
              <a:t>Let artists/creators register a special account, upload their own music, and view streams and listener statistics for their tracks.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882128" y="3694176"/>
            <a:ext cx="3730752" cy="1536192"/>
          </a:xfrm>
          <a:prstGeom prst="rect">
            <a:avLst/>
          </a:prstGeom>
          <a:solidFill>
            <a:srgbClr val="1E1E2E"/>
          </a:solidFill>
          <a:ln w="12700">
            <a:solidFill>
              <a:srgbClr val="E5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7882128" y="3694176"/>
            <a:ext cx="3730752" cy="347472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991856" y="3749039"/>
            <a:ext cx="35478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Segoe UI"/>
              </a:rPr>
              <a:t>📊 Analytics Dashboard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561320" y="4078224"/>
            <a:ext cx="1005840" cy="228600"/>
          </a:xfrm>
          <a:prstGeom prst="rect">
            <a:avLst/>
          </a:prstGeom>
          <a:solidFill>
            <a:srgbClr val="10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0561320" y="409651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E53E3E"/>
                </a:solidFill>
                <a:latin typeface="Segoe UI"/>
              </a:rPr>
              <a:t>Phase 1 Priority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991856" y="4352544"/>
            <a:ext cx="352958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3B3B3"/>
                </a:solidFill>
                <a:latin typeface="Segoe UI"/>
              </a:rPr>
              <a:t>Give users a personal stats page: listening time per day, top genres, most-played hours, and monthly listening trends with charts.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74320" y="6446520"/>
            <a:ext cx="11640312" cy="329184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02920" y="6492240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3B3B3"/>
                </a:solidFill>
                <a:latin typeface="Segoe UI"/>
              </a:rPr>
              <a:t>Phase 1 features will be completed by mid-next semester.  Phase 2 features will be research + prototyped by end of next semester.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833872"/>
            <a:ext cx="12188952" cy="1024128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815584"/>
            <a:ext cx="12188952" cy="54864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0" y="731520"/>
            <a:ext cx="3200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0" b="0">
                <a:solidFill>
                  <a:srgbClr val="FFFFFF"/>
                </a:solidFill>
                <a:latin typeface="Segoe UI"/>
              </a:rPr>
              <a:t>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7772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0" b="1">
                <a:solidFill>
                  <a:srgbClr val="FFFFFF"/>
                </a:solidFill>
                <a:latin typeface="Segoe UI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84831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DB954"/>
                </a:solidFill>
                <a:latin typeface="Segoe UI"/>
              </a:rPr>
              <a:t>MyTunes – Ad-Free Social Music Streaming Platform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743200"/>
            <a:ext cx="4114800" cy="4572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2944368"/>
            <a:ext cx="201168" cy="201168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2926080"/>
            <a:ext cx="6858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3B3B3"/>
                </a:solidFill>
                <a:latin typeface="Segoe UI"/>
              </a:rPr>
              <a:t>Full-stack web app: Node.js + Express + MongoDB + HTML/CSS/JS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419856"/>
            <a:ext cx="201168" cy="201168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3401568"/>
            <a:ext cx="6858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3B3B3"/>
                </a:solidFill>
                <a:latin typeface="Segoe UI"/>
              </a:rPr>
              <a:t>Real-time sync via Socket.io for group listening sessions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895344"/>
            <a:ext cx="201168" cy="201168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3877056"/>
            <a:ext cx="6858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3B3B3"/>
                </a:solidFill>
                <a:latin typeface="Segoe UI"/>
              </a:rPr>
              <a:t>Secure JWT auth, bcrypt hashing, refresh tokens implemented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370832"/>
            <a:ext cx="201168" cy="201168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8680" y="4352544"/>
            <a:ext cx="6858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3B3B3"/>
                </a:solidFill>
                <a:latin typeface="Segoe UI"/>
              </a:rPr>
              <a:t>Mood-based discovery, friends system &amp; social features delivered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846320"/>
            <a:ext cx="201168" cy="201168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8680" y="4828032"/>
            <a:ext cx="6858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3B3B3"/>
                </a:solidFill>
                <a:latin typeface="Segoe UI"/>
              </a:rPr>
              <a:t>Automated test suite written with Jest + Supertest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98932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3B3B3"/>
                </a:solidFill>
                <a:latin typeface="Segoe UI"/>
              </a:rPr>
              <a:t>Department of Computer Science  |  Academic Year 2024-25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3314</Words>
  <Application>Microsoft Office PowerPoint</Application>
  <PresentationFormat>Custom</PresentationFormat>
  <Paragraphs>416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Rahul Luhar</cp:lastModifiedBy>
  <cp:revision>2</cp:revision>
  <dcterms:created xsi:type="dcterms:W3CDTF">2013-01-27T09:14:16Z</dcterms:created>
  <dcterms:modified xsi:type="dcterms:W3CDTF">2026-04-24T18:04:07Z</dcterms:modified>
  <cp:category/>
</cp:coreProperties>
</file>